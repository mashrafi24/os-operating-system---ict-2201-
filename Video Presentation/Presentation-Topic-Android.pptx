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media/image10.svg" ContentType="image/svg+xml"/>
  <Override PartName="/ppt/media/image11.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4630400" cy="8229600"/>
  <p:notesSz cx="8229600" cy="14630400"/>
  <p:embeddedFontLst>
    <p:embeddedFont>
      <p:font typeface="Inter" panose="02000503000000020004" pitchFamily="34" charset="0"/>
      <p:regular r:id="rId21"/>
    </p:embeddedFont>
    <p:embeddedFont>
      <p:font typeface="Inter" panose="02000503000000020004" pitchFamily="34" charset="-122"/>
      <p:regular r:id="rId22"/>
    </p:embeddedFont>
    <p:embeddedFont>
      <p:font typeface="Inter" panose="02000503000000020004" pitchFamily="34" charset="-120"/>
      <p:regular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question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6.xml"/><Relationship Id="rId5" Type="http://schemas.openxmlformats.org/officeDocument/2006/relationships/image" Target="../media/image11.svg"/><Relationship Id="rId4" Type="http://schemas.openxmlformats.org/officeDocument/2006/relationships/image" Target="../media/image10.svg"/><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9.xml"/><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0.xml"/><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1.xml"/><Relationship Id="rId1" Type="http://schemas.openxmlformats.org/officeDocument/2006/relationships/image" Target="../media/image19.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2.xml"/><Relationship Id="rId2" Type="http://schemas.openxmlformats.org/officeDocument/2006/relationships/image" Target="../media/image21.png"/><Relationship Id="rId1" Type="http://schemas.openxmlformats.org/officeDocument/2006/relationships/image" Target="../media/image20.png"/></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29.png"/><Relationship Id="rId7" Type="http://schemas.openxmlformats.org/officeDocument/2006/relationships/image" Target="../media/image28.png"/><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0" Type="http://schemas.openxmlformats.org/officeDocument/2006/relationships/notesSlide" Target="../notesSlides/notesSlide12.xml"/><Relationship Id="rId1"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2364581"/>
          </a:xfrm>
          <a:prstGeom prst="rect">
            <a:avLst/>
          </a:prstGeom>
          <a:solidFill>
            <a:srgbClr val="CCEEFF"/>
          </a:solidFill>
        </p:spPr>
      </p:sp>
      <p:pic>
        <p:nvPicPr>
          <p:cNvPr id="3" name="Image 0" descr="preencoded.png"/>
          <p:cNvPicPr>
            <a:picLocks noChangeAspect="1"/>
          </p:cNvPicPr>
          <p:nvPr/>
        </p:nvPicPr>
        <p:blipFill>
          <a:blip r:embed="rId1"/>
          <a:stretch>
            <a:fillRect/>
          </a:stretch>
        </p:blipFill>
        <p:spPr>
          <a:xfrm>
            <a:off x="6515100" y="386001"/>
            <a:ext cx="1600200" cy="1592580"/>
          </a:xfrm>
          <a:prstGeom prst="rect">
            <a:avLst/>
          </a:prstGeom>
        </p:spPr>
      </p:pic>
      <p:sp>
        <p:nvSpPr>
          <p:cNvPr id="4" name="Text 1"/>
          <p:cNvSpPr/>
          <p:nvPr/>
        </p:nvSpPr>
        <p:spPr>
          <a:xfrm>
            <a:off x="756642" y="2899053"/>
            <a:ext cx="6403777" cy="620673"/>
          </a:xfrm>
          <a:prstGeom prst="rect">
            <a:avLst/>
          </a:prstGeom>
          <a:noFill/>
        </p:spPr>
        <p:txBody>
          <a:bodyPr wrap="none" lIns="0" tIns="0" rIns="0" bIns="0" rtlCol="0" anchor="t"/>
          <a:lstStyle/>
          <a:p>
            <a:pPr marL="0" indent="0" algn="l">
              <a:lnSpc>
                <a:spcPts val="4850"/>
              </a:lnSpc>
              <a:buNone/>
            </a:pPr>
            <a:r>
              <a:rPr lang="en-US" sz="3900" b="1" dirty="0">
                <a:solidFill>
                  <a:srgbClr val="000000"/>
                </a:solidFill>
                <a:latin typeface="Petrona Bold" pitchFamily="34" charset="0"/>
                <a:ea typeface="Petrona Bold" pitchFamily="34" charset="-122"/>
                <a:cs typeface="Petrona Bold" pitchFamily="34" charset="-120"/>
              </a:rPr>
              <a:t>Presentation Topic: Android</a:t>
            </a:r>
            <a:endParaRPr lang="en-US" sz="3900" dirty="0"/>
          </a:p>
        </p:txBody>
      </p:sp>
      <p:sp>
        <p:nvSpPr>
          <p:cNvPr id="5" name="Text 2"/>
          <p:cNvSpPr/>
          <p:nvPr/>
        </p:nvSpPr>
        <p:spPr>
          <a:xfrm>
            <a:off x="756642" y="3790117"/>
            <a:ext cx="13117116" cy="295513"/>
          </a:xfrm>
          <a:prstGeom prst="rect">
            <a:avLst/>
          </a:prstGeom>
          <a:noFill/>
        </p:spPr>
        <p:txBody>
          <a:bodyPr wrap="none" lIns="0" tIns="0" rIns="0" bIns="0" rtlCol="0" anchor="t"/>
          <a:lstStyle/>
          <a:p>
            <a:pPr marL="0" indent="0" algn="l">
              <a:lnSpc>
                <a:spcPts val="2300"/>
              </a:lnSpc>
              <a:buNone/>
            </a:pPr>
            <a:r>
              <a:rPr lang="en-US" sz="1450" dirty="0">
                <a:solidFill>
                  <a:srgbClr val="272525"/>
                </a:solidFill>
                <a:latin typeface="Inter" panose="02000503000000020004" pitchFamily="34" charset="0"/>
                <a:ea typeface="Inter" panose="02000503000000020004" pitchFamily="34" charset="-122"/>
                <a:cs typeface="Inter" panose="02000503000000020004" pitchFamily="34" charset="-120"/>
              </a:rPr>
              <a:t>Course Title: Operating System</a:t>
            </a:r>
            <a:endParaRPr lang="en-US" sz="1450" dirty="0"/>
          </a:p>
        </p:txBody>
      </p:sp>
      <p:sp>
        <p:nvSpPr>
          <p:cNvPr id="6" name="Text 3"/>
          <p:cNvSpPr/>
          <p:nvPr/>
        </p:nvSpPr>
        <p:spPr>
          <a:xfrm>
            <a:off x="756642" y="4288393"/>
            <a:ext cx="13117116" cy="295513"/>
          </a:xfrm>
          <a:prstGeom prst="rect">
            <a:avLst/>
          </a:prstGeom>
          <a:noFill/>
        </p:spPr>
        <p:txBody>
          <a:bodyPr wrap="none" lIns="0" tIns="0" rIns="0" bIns="0" rtlCol="0" anchor="t"/>
          <a:lstStyle/>
          <a:p>
            <a:pPr marL="0" indent="0" algn="l">
              <a:lnSpc>
                <a:spcPts val="2300"/>
              </a:lnSpc>
              <a:buNone/>
            </a:pPr>
            <a:r>
              <a:rPr lang="en-US" sz="1450" dirty="0">
                <a:solidFill>
                  <a:srgbClr val="272525"/>
                </a:solidFill>
                <a:latin typeface="Inter" panose="02000503000000020004" pitchFamily="34" charset="0"/>
                <a:ea typeface="Inter" panose="02000503000000020004" pitchFamily="34" charset="-122"/>
                <a:cs typeface="Inter" panose="02000503000000020004" pitchFamily="34" charset="-120"/>
              </a:rPr>
              <a:t>Course Code: ICT-2201</a:t>
            </a:r>
            <a:endParaRPr lang="en-US" sz="1450" dirty="0"/>
          </a:p>
        </p:txBody>
      </p:sp>
      <p:sp>
        <p:nvSpPr>
          <p:cNvPr id="7" name="Text 4"/>
          <p:cNvSpPr/>
          <p:nvPr/>
        </p:nvSpPr>
        <p:spPr>
          <a:xfrm>
            <a:off x="756642" y="4786670"/>
            <a:ext cx="13117116" cy="591026"/>
          </a:xfrm>
          <a:prstGeom prst="rect">
            <a:avLst/>
          </a:prstGeom>
          <a:noFill/>
        </p:spPr>
        <p:txBody>
          <a:bodyPr wrap="square" lIns="0" tIns="0" rIns="0" bIns="0" rtlCol="0" anchor="t"/>
          <a:lstStyle/>
          <a:p>
            <a:pPr marL="0" indent="0" algn="l">
              <a:lnSpc>
                <a:spcPts val="2300"/>
              </a:lnSpc>
              <a:buNone/>
            </a:pPr>
            <a:endParaRPr lang="en-US" sz="1450" dirty="0"/>
          </a:p>
        </p:txBody>
      </p:sp>
      <p:sp>
        <p:nvSpPr>
          <p:cNvPr id="8" name="Shape 5"/>
          <p:cNvSpPr/>
          <p:nvPr/>
        </p:nvSpPr>
        <p:spPr>
          <a:xfrm>
            <a:off x="756642" y="5783223"/>
            <a:ext cx="1371481" cy="364927"/>
          </a:xfrm>
          <a:prstGeom prst="roundRect">
            <a:avLst>
              <a:gd name="adj" fmla="val 17418"/>
            </a:avLst>
          </a:prstGeom>
          <a:noFill/>
          <a:ln w="7620">
            <a:solidFill>
              <a:srgbClr val="007EBD"/>
            </a:solidFill>
            <a:prstDash val="solid"/>
          </a:ln>
        </p:spPr>
      </p:sp>
      <p:sp>
        <p:nvSpPr>
          <p:cNvPr id="9" name="Text 6"/>
          <p:cNvSpPr/>
          <p:nvPr/>
        </p:nvSpPr>
        <p:spPr>
          <a:xfrm>
            <a:off x="877729" y="5847517"/>
            <a:ext cx="1129308" cy="236339"/>
          </a:xfrm>
          <a:prstGeom prst="rect">
            <a:avLst/>
          </a:prstGeom>
          <a:noFill/>
        </p:spPr>
        <p:txBody>
          <a:bodyPr wrap="none" lIns="0" tIns="0" rIns="0" bIns="0" rtlCol="0" anchor="t"/>
          <a:lstStyle/>
          <a:p>
            <a:pPr marL="0" indent="0" algn="l">
              <a:lnSpc>
                <a:spcPts val="1850"/>
              </a:lnSpc>
              <a:buNone/>
            </a:pPr>
            <a:r>
              <a:rPr lang="en-US" sz="1150" dirty="0">
                <a:solidFill>
                  <a:srgbClr val="007EBD"/>
                </a:solidFill>
                <a:latin typeface="Inter" panose="02000503000000020004" pitchFamily="34" charset="0"/>
                <a:ea typeface="Inter" panose="02000503000000020004" pitchFamily="34" charset="-122"/>
                <a:cs typeface="Inter" panose="02000503000000020004" pitchFamily="34" charset="-120"/>
              </a:rPr>
              <a:t>PRESENTED BY</a:t>
            </a:r>
            <a:endParaRPr lang="en-US" sz="1150" dirty="0"/>
          </a:p>
        </p:txBody>
      </p:sp>
      <p:sp>
        <p:nvSpPr>
          <p:cNvPr id="10" name="Text 7"/>
          <p:cNvSpPr/>
          <p:nvPr/>
        </p:nvSpPr>
        <p:spPr>
          <a:xfrm>
            <a:off x="756642" y="6350913"/>
            <a:ext cx="6327815" cy="1182053"/>
          </a:xfrm>
          <a:prstGeom prst="rect">
            <a:avLst/>
          </a:prstGeom>
          <a:noFill/>
        </p:spPr>
        <p:txBody>
          <a:bodyPr wrap="square" lIns="0" tIns="0" rIns="0" bIns="0" rtlCol="0" anchor="t"/>
          <a:lstStyle/>
          <a:p>
            <a:pPr marL="0" indent="0" algn="l">
              <a:lnSpc>
                <a:spcPts val="2300"/>
              </a:lnSpc>
              <a:buNone/>
            </a:pPr>
            <a:r>
              <a:rPr lang="en-US" sz="1450" b="1" dirty="0">
                <a:solidFill>
                  <a:srgbClr val="272525"/>
                </a:solidFill>
                <a:latin typeface="Inter" panose="02000503000000020004" pitchFamily="34" charset="0"/>
                <a:ea typeface="Inter" panose="02000503000000020004" pitchFamily="34" charset="-122"/>
                <a:cs typeface="Inter" panose="02000503000000020004" pitchFamily="34" charset="-120"/>
              </a:rPr>
              <a:t>Md. Mashrafi Rahman      </a:t>
            </a:r>
            <a:endParaRPr lang="en-US" sz="1450" b="1" dirty="0">
              <a:solidFill>
                <a:srgbClr val="272525"/>
              </a:solidFill>
              <a:latin typeface="Inter" panose="02000503000000020004" pitchFamily="34" charset="0"/>
              <a:ea typeface="Inter" panose="02000503000000020004" pitchFamily="34" charset="-122"/>
              <a:cs typeface="Inter" panose="02000503000000020004" pitchFamily="34" charset="-120"/>
            </a:endParaRPr>
          </a:p>
          <a:p>
            <a:pPr marL="0" indent="0" algn="l">
              <a:lnSpc>
                <a:spcPts val="2300"/>
              </a:lnSpc>
              <a:buNone/>
            </a:pPr>
            <a:r>
              <a:rPr lang="en-US" sz="1450" dirty="0">
                <a:solidFill>
                  <a:srgbClr val="272525"/>
                </a:solidFill>
                <a:latin typeface="Inter" panose="02000503000000020004" pitchFamily="34" charset="0"/>
                <a:ea typeface="Inter" panose="02000503000000020004" pitchFamily="34" charset="-122"/>
                <a:cs typeface="Inter" panose="02000503000000020004" pitchFamily="34" charset="-120"/>
              </a:rPr>
              <a:t>IT-24034</a:t>
            </a:r>
            <a:endParaRPr lang="en-US" sz="1450" dirty="0"/>
          </a:p>
          <a:p>
            <a:pPr marL="0" indent="0" algn="l">
              <a:lnSpc>
                <a:spcPts val="2300"/>
              </a:lnSpc>
              <a:buNone/>
            </a:pPr>
            <a:r>
              <a:rPr lang="en-US" sz="1450" dirty="0">
                <a:solidFill>
                  <a:srgbClr val="272525"/>
                </a:solidFill>
                <a:latin typeface="Inter" panose="02000503000000020004" pitchFamily="34" charset="0"/>
                <a:ea typeface="Inter" panose="02000503000000020004" pitchFamily="34" charset="-122"/>
                <a:cs typeface="Inter" panose="02000503000000020004" pitchFamily="34" charset="-120"/>
              </a:rPr>
              <a:t>Department of Information &amp; Communication Technology</a:t>
            </a:r>
            <a:endParaRPr lang="en-US" sz="1450" dirty="0"/>
          </a:p>
          <a:p>
            <a:pPr marL="0" indent="0" algn="l">
              <a:lnSpc>
                <a:spcPts val="2300"/>
              </a:lnSpc>
              <a:buNone/>
            </a:pPr>
            <a:r>
              <a:rPr lang="en-US" sz="1450" dirty="0">
                <a:solidFill>
                  <a:srgbClr val="272525"/>
                </a:solidFill>
                <a:latin typeface="Inter" panose="02000503000000020004" pitchFamily="34" charset="0"/>
                <a:ea typeface="Inter" panose="02000503000000020004" pitchFamily="34" charset="-122"/>
                <a:cs typeface="Inter" panose="02000503000000020004" pitchFamily="34" charset="-120"/>
              </a:rPr>
              <a:t>MBSTU</a:t>
            </a:r>
            <a:endParaRPr lang="en-US" sz="1450" dirty="0"/>
          </a:p>
        </p:txBody>
      </p:sp>
      <p:sp>
        <p:nvSpPr>
          <p:cNvPr id="11" name="Shape 8"/>
          <p:cNvSpPr/>
          <p:nvPr/>
        </p:nvSpPr>
        <p:spPr>
          <a:xfrm>
            <a:off x="7553563" y="5783223"/>
            <a:ext cx="1884640" cy="364927"/>
          </a:xfrm>
          <a:prstGeom prst="roundRect">
            <a:avLst>
              <a:gd name="adj" fmla="val 17418"/>
            </a:avLst>
          </a:prstGeom>
          <a:noFill/>
          <a:ln w="7620">
            <a:solidFill>
              <a:srgbClr val="007EBD"/>
            </a:solidFill>
            <a:prstDash val="solid"/>
          </a:ln>
        </p:spPr>
      </p:sp>
      <p:sp>
        <p:nvSpPr>
          <p:cNvPr id="12" name="Text 9"/>
          <p:cNvSpPr/>
          <p:nvPr/>
        </p:nvSpPr>
        <p:spPr>
          <a:xfrm>
            <a:off x="7674650" y="5847517"/>
            <a:ext cx="1642467" cy="236339"/>
          </a:xfrm>
          <a:prstGeom prst="rect">
            <a:avLst/>
          </a:prstGeom>
          <a:noFill/>
        </p:spPr>
        <p:txBody>
          <a:bodyPr wrap="none" lIns="0" tIns="0" rIns="0" bIns="0" rtlCol="0" anchor="t"/>
          <a:lstStyle/>
          <a:p>
            <a:pPr marL="0" indent="0" algn="l">
              <a:lnSpc>
                <a:spcPts val="1850"/>
              </a:lnSpc>
              <a:buNone/>
            </a:pPr>
            <a:r>
              <a:rPr lang="en-US" sz="1150" dirty="0">
                <a:solidFill>
                  <a:srgbClr val="007EBD"/>
                </a:solidFill>
                <a:latin typeface="Inter" panose="02000503000000020004" pitchFamily="34" charset="0"/>
                <a:ea typeface="Inter" panose="02000503000000020004" pitchFamily="34" charset="-122"/>
                <a:cs typeface="Inter" panose="02000503000000020004" pitchFamily="34" charset="-120"/>
              </a:rPr>
              <a:t>COURSE INSTRUCTOR</a:t>
            </a:r>
            <a:endParaRPr lang="en-US" sz="1150" dirty="0"/>
          </a:p>
        </p:txBody>
      </p:sp>
      <p:sp>
        <p:nvSpPr>
          <p:cNvPr id="13" name="Text 10"/>
          <p:cNvSpPr/>
          <p:nvPr/>
        </p:nvSpPr>
        <p:spPr>
          <a:xfrm>
            <a:off x="7553563" y="6350913"/>
            <a:ext cx="6327815" cy="1182053"/>
          </a:xfrm>
          <a:prstGeom prst="rect">
            <a:avLst/>
          </a:prstGeom>
          <a:noFill/>
        </p:spPr>
        <p:txBody>
          <a:bodyPr wrap="square" lIns="0" tIns="0" rIns="0" bIns="0" rtlCol="0" anchor="t"/>
          <a:lstStyle/>
          <a:p>
            <a:pPr marL="0" indent="0" algn="l">
              <a:lnSpc>
                <a:spcPts val="2300"/>
              </a:lnSpc>
              <a:buNone/>
            </a:pPr>
            <a:r>
              <a:rPr lang="en-US" sz="1450" b="1" dirty="0">
                <a:solidFill>
                  <a:srgbClr val="272525"/>
                </a:solidFill>
                <a:latin typeface="Inter" panose="02000503000000020004" pitchFamily="34" charset="0"/>
                <a:ea typeface="Inter" panose="02000503000000020004" pitchFamily="34" charset="-122"/>
                <a:cs typeface="Inter" panose="02000503000000020004" pitchFamily="34" charset="-120"/>
              </a:rPr>
              <a:t>Dr. Nazrul Islam</a:t>
            </a:r>
            <a:endParaRPr lang="en-US" sz="1450" b="1" dirty="0">
              <a:solidFill>
                <a:srgbClr val="272525"/>
              </a:solidFill>
              <a:latin typeface="Inter" panose="02000503000000020004" pitchFamily="34" charset="0"/>
              <a:ea typeface="Inter" panose="02000503000000020004" pitchFamily="34" charset="-122"/>
              <a:cs typeface="Inter" panose="02000503000000020004" pitchFamily="34" charset="-120"/>
            </a:endParaRPr>
          </a:p>
          <a:p>
            <a:pPr marL="0" indent="0" algn="l">
              <a:lnSpc>
                <a:spcPts val="2300"/>
              </a:lnSpc>
              <a:buNone/>
            </a:pPr>
            <a:r>
              <a:rPr lang="en-US" sz="1450" dirty="0">
                <a:solidFill>
                  <a:srgbClr val="272525"/>
                </a:solidFill>
                <a:latin typeface="Inter" panose="02000503000000020004" pitchFamily="34" charset="0"/>
                <a:ea typeface="Inter" panose="02000503000000020004" pitchFamily="34" charset="-122"/>
                <a:cs typeface="Inter" panose="02000503000000020004" pitchFamily="34" charset="-120"/>
              </a:rPr>
              <a:t>Associate Professor</a:t>
            </a:r>
            <a:endParaRPr lang="en-US" sz="1450" dirty="0"/>
          </a:p>
          <a:p>
            <a:pPr marL="0" indent="0" algn="l">
              <a:lnSpc>
                <a:spcPts val="2300"/>
              </a:lnSpc>
              <a:buNone/>
            </a:pPr>
            <a:r>
              <a:rPr lang="en-US" sz="1450" dirty="0">
                <a:solidFill>
                  <a:srgbClr val="272525"/>
                </a:solidFill>
                <a:latin typeface="Inter" panose="02000503000000020004" pitchFamily="34" charset="0"/>
                <a:ea typeface="Inter" panose="02000503000000020004" pitchFamily="34" charset="-122"/>
                <a:cs typeface="Inter" panose="02000503000000020004" pitchFamily="34" charset="-120"/>
              </a:rPr>
              <a:t>Department of Information &amp; Communication Technology</a:t>
            </a:r>
            <a:endParaRPr lang="en-US" sz="1450" dirty="0"/>
          </a:p>
          <a:p>
            <a:pPr marL="0" indent="0" algn="l">
              <a:lnSpc>
                <a:spcPts val="2300"/>
              </a:lnSpc>
              <a:buNone/>
            </a:pPr>
            <a:r>
              <a:rPr lang="en-US" sz="1450" dirty="0">
                <a:solidFill>
                  <a:srgbClr val="272525"/>
                </a:solidFill>
                <a:latin typeface="Inter" panose="02000503000000020004" pitchFamily="34" charset="0"/>
                <a:ea typeface="Inter" panose="02000503000000020004" pitchFamily="34" charset="-122"/>
                <a:cs typeface="Inter" panose="02000503000000020004" pitchFamily="34" charset="-120"/>
              </a:rPr>
              <a:t>MBSTU</a:t>
            </a:r>
            <a:endParaRPr lang="en-US" sz="1450" dirty="0"/>
          </a:p>
        </p:txBody>
      </p:sp>
      <p:sp>
        <p:nvSpPr>
          <p:cNvPr id="14" name="Rectangles 13"/>
          <p:cNvSpPr/>
          <p:nvPr/>
        </p:nvSpPr>
        <p:spPr>
          <a:xfrm>
            <a:off x="12640310" y="7768590"/>
            <a:ext cx="1879600" cy="32956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486400" cy="8229600"/>
          </a:xfrm>
          <a:prstGeom prst="rect">
            <a:avLst/>
          </a:prstGeom>
          <a:solidFill>
            <a:srgbClr val="CCEEFF"/>
          </a:solidFill>
        </p:spPr>
      </p:sp>
      <p:pic>
        <p:nvPicPr>
          <p:cNvPr id="3" name="Image 0" descr="preencoded.png"/>
          <p:cNvPicPr>
            <a:picLocks noChangeAspect="1"/>
          </p:cNvPicPr>
          <p:nvPr/>
        </p:nvPicPr>
        <p:blipFill>
          <a:blip r:embed="rId1"/>
          <a:stretch>
            <a:fillRect/>
          </a:stretch>
        </p:blipFill>
        <p:spPr>
          <a:xfrm>
            <a:off x="99179" y="589478"/>
            <a:ext cx="5287923" cy="7050643"/>
          </a:xfrm>
          <a:prstGeom prst="rect">
            <a:avLst/>
          </a:prstGeom>
        </p:spPr>
      </p:pic>
      <p:sp>
        <p:nvSpPr>
          <p:cNvPr id="4" name="Text 1"/>
          <p:cNvSpPr/>
          <p:nvPr/>
        </p:nvSpPr>
        <p:spPr>
          <a:xfrm>
            <a:off x="6785848" y="2687717"/>
            <a:ext cx="6545104" cy="651272"/>
          </a:xfrm>
          <a:prstGeom prst="rect">
            <a:avLst/>
          </a:prstGeom>
          <a:noFill/>
        </p:spPr>
        <p:txBody>
          <a:bodyPr wrap="none" lIns="0" tIns="0" rIns="0" bIns="0" rtlCol="0" anchor="t"/>
          <a:lstStyle/>
          <a:p>
            <a:pPr marL="0" indent="0" algn="ctr">
              <a:lnSpc>
                <a:spcPts val="5100"/>
              </a:lnSpc>
              <a:buNone/>
            </a:pPr>
            <a:r>
              <a:rPr lang="en-US" sz="4100" b="1" dirty="0">
                <a:solidFill>
                  <a:srgbClr val="000000"/>
                </a:solidFill>
                <a:latin typeface="Petrona Bold" pitchFamily="34" charset="0"/>
                <a:ea typeface="Petrona Bold" pitchFamily="34" charset="-122"/>
                <a:cs typeface="Petrona Bold" pitchFamily="34" charset="-120"/>
              </a:rPr>
              <a:t>Android (operating system)</a:t>
            </a:r>
            <a:endParaRPr lang="en-US" sz="4100" dirty="0"/>
          </a:p>
        </p:txBody>
      </p:sp>
      <p:sp>
        <p:nvSpPr>
          <p:cNvPr id="5" name="Text 2"/>
          <p:cNvSpPr/>
          <p:nvPr/>
        </p:nvSpPr>
        <p:spPr>
          <a:xfrm>
            <a:off x="6280190" y="3636645"/>
            <a:ext cx="7556421" cy="1905238"/>
          </a:xfrm>
          <a:prstGeom prst="rect">
            <a:avLst/>
          </a:prstGeom>
          <a:noFill/>
        </p:spPr>
        <p:txBody>
          <a:bodyPr wrap="square" lIns="0" tIns="0" rIns="0" bIns="0" rtlCol="0" anchor="t"/>
          <a:lstStyle/>
          <a:p>
            <a:pPr marL="0" indent="0" algn="l">
              <a:lnSpc>
                <a:spcPts val="2500"/>
              </a:lnSpc>
              <a:buNone/>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Android is a mobile operating system owned by Google, based on a modified Linux kernel and open-source software. Designed primarily for touchscreen devices (smartphones and tablets), Android has become the world’s most widely used mobile OS. The Android Open Source Project (AOSP) publishes the core code under permissive licenses, while most consumer devices run Google’s proprietary distribution that includes Google Mobile Services (GMS).</a:t>
            </a:r>
            <a:endParaRPr lang="en-US" sz="1550" dirty="0"/>
          </a:p>
        </p:txBody>
      </p:sp>
      <p:sp>
        <p:nvSpPr>
          <p:cNvPr id="14" name="Rectangles 13"/>
          <p:cNvSpPr/>
          <p:nvPr/>
        </p:nvSpPr>
        <p:spPr>
          <a:xfrm>
            <a:off x="12640310" y="7780655"/>
            <a:ext cx="1879600" cy="32956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9144000" y="0"/>
            <a:ext cx="5486400" cy="8229600"/>
          </a:xfrm>
          <a:prstGeom prst="rect">
            <a:avLst/>
          </a:prstGeom>
          <a:solidFill>
            <a:srgbClr val="CCEEFF"/>
          </a:solidFill>
        </p:spPr>
      </p:sp>
      <p:pic>
        <p:nvPicPr>
          <p:cNvPr id="3" name="Image 0" descr="preencoded.png"/>
          <p:cNvPicPr>
            <a:picLocks noChangeAspect="1"/>
          </p:cNvPicPr>
          <p:nvPr/>
        </p:nvPicPr>
        <p:blipFill>
          <a:blip r:embed="rId1"/>
          <a:stretch>
            <a:fillRect/>
          </a:stretch>
        </p:blipFill>
        <p:spPr>
          <a:xfrm>
            <a:off x="9243179" y="589478"/>
            <a:ext cx="5287923" cy="7050643"/>
          </a:xfrm>
          <a:prstGeom prst="rect">
            <a:avLst/>
          </a:prstGeom>
        </p:spPr>
      </p:pic>
      <p:sp>
        <p:nvSpPr>
          <p:cNvPr id="4" name="Text 1"/>
          <p:cNvSpPr/>
          <p:nvPr/>
        </p:nvSpPr>
        <p:spPr>
          <a:xfrm>
            <a:off x="793790" y="742831"/>
            <a:ext cx="7556421" cy="1302544"/>
          </a:xfrm>
          <a:prstGeom prst="rect">
            <a:avLst/>
          </a:prstGeom>
          <a:noFill/>
        </p:spPr>
        <p:txBody>
          <a:bodyPr wrap="squar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Origins &amp; Early History (2003–2008)</a:t>
            </a:r>
            <a:endParaRPr lang="en-US" sz="4100" dirty="0"/>
          </a:p>
        </p:txBody>
      </p:sp>
      <p:sp>
        <p:nvSpPr>
          <p:cNvPr id="5" name="Shape 2"/>
          <p:cNvSpPr/>
          <p:nvPr/>
        </p:nvSpPr>
        <p:spPr>
          <a:xfrm>
            <a:off x="793790" y="2343031"/>
            <a:ext cx="198358" cy="1794034"/>
          </a:xfrm>
          <a:prstGeom prst="roundRect">
            <a:avLst>
              <a:gd name="adj" fmla="val 42025"/>
            </a:avLst>
          </a:prstGeom>
          <a:solidFill>
            <a:srgbClr val="CCEEFF"/>
          </a:solidFill>
          <a:ln w="7620">
            <a:solidFill>
              <a:srgbClr val="B2D4E5"/>
            </a:solidFill>
            <a:prstDash val="solid"/>
          </a:ln>
        </p:spPr>
      </p:sp>
      <p:sp>
        <p:nvSpPr>
          <p:cNvPr id="6" name="Text 3"/>
          <p:cNvSpPr/>
          <p:nvPr/>
        </p:nvSpPr>
        <p:spPr>
          <a:xfrm>
            <a:off x="1190506" y="2541389"/>
            <a:ext cx="2604968" cy="325636"/>
          </a:xfrm>
          <a:prstGeom prst="rect">
            <a:avLst/>
          </a:prstGeom>
          <a:noFill/>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Founding</a:t>
            </a:r>
            <a:endParaRPr lang="en-US" sz="2050" dirty="0"/>
          </a:p>
        </p:txBody>
      </p:sp>
      <p:sp>
        <p:nvSpPr>
          <p:cNvPr id="7" name="Text 4"/>
          <p:cNvSpPr/>
          <p:nvPr/>
        </p:nvSpPr>
        <p:spPr>
          <a:xfrm>
            <a:off x="1190506" y="2986088"/>
            <a:ext cx="7159704" cy="952619"/>
          </a:xfrm>
          <a:prstGeom prst="rect">
            <a:avLst/>
          </a:prstGeom>
          <a:noFill/>
        </p:spPr>
        <p:txBody>
          <a:bodyPr wrap="square" lIns="0" tIns="0" rIns="0" bIns="0" rtlCol="0" anchor="t"/>
          <a:lstStyle/>
          <a:p>
            <a:pPr marL="0" indent="0" algn="l">
              <a:lnSpc>
                <a:spcPts val="2500"/>
              </a:lnSpc>
              <a:buNone/>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Android Inc. was founded in Palo Alto in October 2003 by Andy Rubin, Chris White, Rich Miner and Nick Sears. The company pivoted from camera software to a phone OS in 2004.</a:t>
            </a:r>
            <a:endParaRPr lang="en-US" sz="1550" dirty="0"/>
          </a:p>
        </p:txBody>
      </p:sp>
      <p:sp>
        <p:nvSpPr>
          <p:cNvPr id="8" name="Shape 5"/>
          <p:cNvSpPr/>
          <p:nvPr/>
        </p:nvSpPr>
        <p:spPr>
          <a:xfrm>
            <a:off x="1091446" y="4335423"/>
            <a:ext cx="198358" cy="1476494"/>
          </a:xfrm>
          <a:prstGeom prst="roundRect">
            <a:avLst>
              <a:gd name="adj" fmla="val 42025"/>
            </a:avLst>
          </a:prstGeom>
          <a:solidFill>
            <a:srgbClr val="CCEEFF"/>
          </a:solidFill>
          <a:ln w="7620">
            <a:solidFill>
              <a:srgbClr val="B2D4E5"/>
            </a:solidFill>
            <a:prstDash val="solid"/>
          </a:ln>
        </p:spPr>
      </p:sp>
      <p:sp>
        <p:nvSpPr>
          <p:cNvPr id="9" name="Text 6"/>
          <p:cNvSpPr/>
          <p:nvPr/>
        </p:nvSpPr>
        <p:spPr>
          <a:xfrm>
            <a:off x="1488162" y="4533781"/>
            <a:ext cx="2604968" cy="325636"/>
          </a:xfrm>
          <a:prstGeom prst="rect">
            <a:avLst/>
          </a:prstGeom>
          <a:noFill/>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Google acquisition</a:t>
            </a:r>
            <a:endParaRPr lang="en-US" sz="2050" dirty="0"/>
          </a:p>
        </p:txBody>
      </p:sp>
      <p:sp>
        <p:nvSpPr>
          <p:cNvPr id="10" name="Text 7"/>
          <p:cNvSpPr/>
          <p:nvPr/>
        </p:nvSpPr>
        <p:spPr>
          <a:xfrm>
            <a:off x="1488162" y="4978479"/>
            <a:ext cx="6862048" cy="635079"/>
          </a:xfrm>
          <a:prstGeom prst="rect">
            <a:avLst/>
          </a:prstGeom>
          <a:noFill/>
        </p:spPr>
        <p:txBody>
          <a:bodyPr wrap="square" lIns="0" tIns="0" rIns="0" bIns="0" rtlCol="0" anchor="t"/>
          <a:lstStyle/>
          <a:p>
            <a:pPr marL="0" indent="0" algn="l">
              <a:lnSpc>
                <a:spcPts val="2500"/>
              </a:lnSpc>
              <a:buNone/>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Google acquired Android in 2005; key team members joined Google and developed a mobile platform built on the Linux kernel.</a:t>
            </a:r>
            <a:endParaRPr lang="en-US" sz="1550" dirty="0"/>
          </a:p>
        </p:txBody>
      </p:sp>
      <p:sp>
        <p:nvSpPr>
          <p:cNvPr id="11" name="Shape 8"/>
          <p:cNvSpPr/>
          <p:nvPr/>
        </p:nvSpPr>
        <p:spPr>
          <a:xfrm>
            <a:off x="1389102" y="6010275"/>
            <a:ext cx="198358" cy="1476494"/>
          </a:xfrm>
          <a:prstGeom prst="roundRect">
            <a:avLst>
              <a:gd name="adj" fmla="val 42025"/>
            </a:avLst>
          </a:prstGeom>
          <a:solidFill>
            <a:srgbClr val="CCEEFF"/>
          </a:solidFill>
          <a:ln w="7620">
            <a:solidFill>
              <a:srgbClr val="B2D4E5"/>
            </a:solidFill>
            <a:prstDash val="solid"/>
          </a:ln>
        </p:spPr>
      </p:sp>
      <p:sp>
        <p:nvSpPr>
          <p:cNvPr id="12" name="Text 9"/>
          <p:cNvSpPr/>
          <p:nvPr/>
        </p:nvSpPr>
        <p:spPr>
          <a:xfrm>
            <a:off x="1785818" y="6208633"/>
            <a:ext cx="2604968" cy="325636"/>
          </a:xfrm>
          <a:prstGeom prst="rect">
            <a:avLst/>
          </a:prstGeom>
          <a:noFill/>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First device</a:t>
            </a:r>
            <a:endParaRPr lang="en-US" sz="2050" dirty="0"/>
          </a:p>
        </p:txBody>
      </p:sp>
      <p:sp>
        <p:nvSpPr>
          <p:cNvPr id="13" name="Text 10"/>
          <p:cNvSpPr/>
          <p:nvPr/>
        </p:nvSpPr>
        <p:spPr>
          <a:xfrm>
            <a:off x="1785818" y="6653332"/>
            <a:ext cx="6564392" cy="635079"/>
          </a:xfrm>
          <a:prstGeom prst="rect">
            <a:avLst/>
          </a:prstGeom>
          <a:noFill/>
        </p:spPr>
        <p:txBody>
          <a:bodyPr wrap="square" lIns="0" tIns="0" rIns="0" bIns="0" rtlCol="0" anchor="t"/>
          <a:lstStyle/>
          <a:p>
            <a:pPr marL="0" indent="0" algn="l">
              <a:lnSpc>
                <a:spcPts val="2500"/>
              </a:lnSpc>
              <a:buNone/>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The first commercially available Android smartphone was the HTC Dream (T‑Mobile G1), announced September 23, 2008.</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486400" cy="8229600"/>
          </a:xfrm>
          <a:prstGeom prst="rect">
            <a:avLst/>
          </a:prstGeom>
          <a:solidFill>
            <a:srgbClr val="CCEEFF"/>
          </a:solidFill>
        </p:spPr>
      </p:sp>
      <p:pic>
        <p:nvPicPr>
          <p:cNvPr id="3" name="Image 0" descr="preencoded.png"/>
          <p:cNvPicPr>
            <a:picLocks noChangeAspect="1"/>
          </p:cNvPicPr>
          <p:nvPr/>
        </p:nvPicPr>
        <p:blipFill>
          <a:blip r:embed="rId1"/>
          <a:stretch>
            <a:fillRect/>
          </a:stretch>
        </p:blipFill>
        <p:spPr>
          <a:xfrm>
            <a:off x="99179" y="589478"/>
            <a:ext cx="5287923" cy="7050643"/>
          </a:xfrm>
          <a:prstGeom prst="rect">
            <a:avLst/>
          </a:prstGeom>
        </p:spPr>
      </p:pic>
      <p:sp>
        <p:nvSpPr>
          <p:cNvPr id="4" name="Text 1"/>
          <p:cNvSpPr/>
          <p:nvPr/>
        </p:nvSpPr>
        <p:spPr>
          <a:xfrm>
            <a:off x="6280190" y="2362081"/>
            <a:ext cx="7556421" cy="1302544"/>
          </a:xfrm>
          <a:prstGeom prst="rect">
            <a:avLst/>
          </a:prstGeom>
          <a:noFill/>
        </p:spPr>
        <p:txBody>
          <a:bodyPr wrap="squar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What Android Is Today (Structure &amp; Ecosystem)</a:t>
            </a:r>
            <a:endParaRPr lang="en-US" sz="4100" dirty="0"/>
          </a:p>
        </p:txBody>
      </p:sp>
      <p:sp>
        <p:nvSpPr>
          <p:cNvPr id="5" name="Text 2"/>
          <p:cNvSpPr/>
          <p:nvPr/>
        </p:nvSpPr>
        <p:spPr>
          <a:xfrm>
            <a:off x="6280190" y="3962281"/>
            <a:ext cx="7556421" cy="1905238"/>
          </a:xfrm>
          <a:prstGeom prst="rect">
            <a:avLst/>
          </a:prstGeom>
          <a:noFill/>
        </p:spPr>
        <p:txBody>
          <a:bodyPr wrap="square" lIns="0" tIns="0" rIns="0" bIns="0" rtlCol="0" anchor="t"/>
          <a:lstStyle/>
          <a:p>
            <a:pPr marL="0" indent="0" algn="l">
              <a:lnSpc>
                <a:spcPts val="2500"/>
              </a:lnSpc>
              <a:buNone/>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Android combines an open-source upstream (AOSP) with a large commercial ecosystem. Devices typically run a Google-branded Android with proprietary components (GMS, Play Store, core Google apps). Many OEMs customize Android with vendor UI skins; numerous forks and distributions (e.g., Amazon Fire OS, LineageOS) also exist. Android powers phones, tablets, wearables, TVs, cars and many IoT devices.</a:t>
            </a:r>
            <a:endParaRPr lang="en-US" sz="1550" dirty="0"/>
          </a:p>
        </p:txBody>
      </p:sp>
      <p:sp>
        <p:nvSpPr>
          <p:cNvPr id="14" name="Rectangles 13"/>
          <p:cNvSpPr/>
          <p:nvPr/>
        </p:nvSpPr>
        <p:spPr>
          <a:xfrm>
            <a:off x="12640310" y="7768590"/>
            <a:ext cx="1879600" cy="32956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9144000" y="0"/>
            <a:ext cx="5486400" cy="8229600"/>
          </a:xfrm>
          <a:prstGeom prst="rect">
            <a:avLst/>
          </a:prstGeom>
          <a:solidFill>
            <a:srgbClr val="CCEEFF"/>
          </a:solidFill>
        </p:spPr>
      </p:sp>
      <p:pic>
        <p:nvPicPr>
          <p:cNvPr id="3" name="Image 0" descr="preencoded.png"/>
          <p:cNvPicPr>
            <a:picLocks noChangeAspect="1"/>
          </p:cNvPicPr>
          <p:nvPr/>
        </p:nvPicPr>
        <p:blipFill>
          <a:blip r:embed="rId1"/>
          <a:stretch>
            <a:fillRect/>
          </a:stretch>
        </p:blipFill>
        <p:spPr>
          <a:xfrm>
            <a:off x="9243179" y="589478"/>
            <a:ext cx="5287923" cy="7050643"/>
          </a:xfrm>
          <a:prstGeom prst="rect">
            <a:avLst/>
          </a:prstGeom>
        </p:spPr>
      </p:pic>
      <p:sp>
        <p:nvSpPr>
          <p:cNvPr id="4" name="Text 1"/>
          <p:cNvSpPr/>
          <p:nvPr/>
        </p:nvSpPr>
        <p:spPr>
          <a:xfrm>
            <a:off x="793790" y="1782604"/>
            <a:ext cx="5815846" cy="651272"/>
          </a:xfrm>
          <a:prstGeom prst="rect">
            <a:avLst/>
          </a:prstGeom>
          <a:noFill/>
        </p:spPr>
        <p:txBody>
          <a:bodyPr wrap="non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Key Features &amp; Interface</a:t>
            </a:r>
            <a:endParaRPr lang="en-US" sz="4100" dirty="0"/>
          </a:p>
        </p:txBody>
      </p:sp>
      <p:pic>
        <p:nvPicPr>
          <p:cNvPr id="5" name="Image 1" descr="preencoded.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3790" y="2731532"/>
            <a:ext cx="496133" cy="496133"/>
          </a:xfrm>
          <a:prstGeom prst="rect">
            <a:avLst/>
          </a:prstGeom>
        </p:spPr>
      </p:pic>
      <p:sp>
        <p:nvSpPr>
          <p:cNvPr id="6" name="Text 2"/>
          <p:cNvSpPr/>
          <p:nvPr/>
        </p:nvSpPr>
        <p:spPr>
          <a:xfrm>
            <a:off x="1537930" y="2731532"/>
            <a:ext cx="2604968" cy="325636"/>
          </a:xfrm>
          <a:prstGeom prst="rect">
            <a:avLst/>
          </a:prstGeom>
          <a:noFill/>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Direct manipulation</a:t>
            </a:r>
            <a:endParaRPr lang="en-US" sz="2050" dirty="0"/>
          </a:p>
        </p:txBody>
      </p:sp>
      <p:sp>
        <p:nvSpPr>
          <p:cNvPr id="7" name="Text 3"/>
          <p:cNvSpPr/>
          <p:nvPr/>
        </p:nvSpPr>
        <p:spPr>
          <a:xfrm>
            <a:off x="1537930" y="3176230"/>
            <a:ext cx="6812280" cy="635079"/>
          </a:xfrm>
          <a:prstGeom prst="rect">
            <a:avLst/>
          </a:prstGeom>
          <a:noFill/>
        </p:spPr>
        <p:txBody>
          <a:bodyPr wrap="square" lIns="0" tIns="0" rIns="0" bIns="0" rtlCol="0" anchor="t"/>
          <a:lstStyle/>
          <a:p>
            <a:pPr marL="0" indent="0" algn="l">
              <a:lnSpc>
                <a:spcPts val="2500"/>
              </a:lnSpc>
              <a:buNone/>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Touch gestures (swipe, tap, pinch) plus virtual keyboard, haptics, and sensor-driven interactions.</a:t>
            </a:r>
            <a:endParaRPr lang="en-US" sz="1550" dirty="0"/>
          </a:p>
        </p:txBody>
      </p:sp>
      <p:pic>
        <p:nvPicPr>
          <p:cNvPr id="8" name="Image 2" descr="preencoded.png"/>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793790" y="4208145"/>
            <a:ext cx="496133" cy="496133"/>
          </a:xfrm>
          <a:prstGeom prst="rect">
            <a:avLst/>
          </a:prstGeom>
        </p:spPr>
      </p:pic>
      <p:sp>
        <p:nvSpPr>
          <p:cNvPr id="9" name="Text 4"/>
          <p:cNvSpPr/>
          <p:nvPr/>
        </p:nvSpPr>
        <p:spPr>
          <a:xfrm>
            <a:off x="1537930" y="4208145"/>
            <a:ext cx="2604968" cy="325636"/>
          </a:xfrm>
          <a:prstGeom prst="rect">
            <a:avLst/>
          </a:prstGeom>
          <a:noFill/>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Notifications</a:t>
            </a:r>
            <a:endParaRPr lang="en-US" sz="2050" dirty="0"/>
          </a:p>
        </p:txBody>
      </p:sp>
      <p:sp>
        <p:nvSpPr>
          <p:cNvPr id="10" name="Text 5"/>
          <p:cNvSpPr/>
          <p:nvPr/>
        </p:nvSpPr>
        <p:spPr>
          <a:xfrm>
            <a:off x="1537930" y="4652843"/>
            <a:ext cx="6812280" cy="317540"/>
          </a:xfrm>
          <a:prstGeom prst="rect">
            <a:avLst/>
          </a:prstGeom>
          <a:noFill/>
        </p:spPr>
        <p:txBody>
          <a:bodyPr wrap="none" lIns="0" tIns="0" rIns="0" bIns="0" rtlCol="0" anchor="t"/>
          <a:lstStyle/>
          <a:p>
            <a:pPr marL="0" indent="0" algn="l">
              <a:lnSpc>
                <a:spcPts val="2500"/>
              </a:lnSpc>
              <a:buNone/>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Expandable notifications with app actions accessible from the shade.</a:t>
            </a:r>
            <a:endParaRPr lang="en-US" sz="1550" dirty="0"/>
          </a:p>
        </p:txBody>
      </p:sp>
      <p:pic>
        <p:nvPicPr>
          <p:cNvPr id="11" name="Image 3" descr="preencoded.png"/>
          <p:cNvPicPr>
            <a:picLocks noChangeAspect="1"/>
          </p:cNvPicPr>
          <p:nvPr/>
        </p:nvPicPr>
        <p:blipFill>
          <a:blip r:embed="rId2">
            <a:extLst>
              <a:ext uri="{96DAC541-7B7A-43D3-8B79-37D633B846F1}">
                <asvg:svgBlip xmlns:asvg="http://schemas.microsoft.com/office/drawing/2016/SVG/main" r:embed="rId5"/>
              </a:ext>
            </a:extLst>
          </a:blip>
          <a:stretch>
            <a:fillRect/>
          </a:stretch>
        </p:blipFill>
        <p:spPr>
          <a:xfrm>
            <a:off x="793790" y="5367218"/>
            <a:ext cx="496133" cy="496133"/>
          </a:xfrm>
          <a:prstGeom prst="rect">
            <a:avLst/>
          </a:prstGeom>
        </p:spPr>
      </p:pic>
      <p:sp>
        <p:nvSpPr>
          <p:cNvPr id="12" name="Text 6"/>
          <p:cNvSpPr/>
          <p:nvPr/>
        </p:nvSpPr>
        <p:spPr>
          <a:xfrm>
            <a:off x="1537930" y="5367218"/>
            <a:ext cx="2604968" cy="325636"/>
          </a:xfrm>
          <a:prstGeom prst="rect">
            <a:avLst/>
          </a:prstGeom>
          <a:noFill/>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Multitasking</a:t>
            </a:r>
            <a:endParaRPr lang="en-US" sz="2050" dirty="0"/>
          </a:p>
        </p:txBody>
      </p:sp>
      <p:sp>
        <p:nvSpPr>
          <p:cNvPr id="13" name="Text 7"/>
          <p:cNvSpPr/>
          <p:nvPr/>
        </p:nvSpPr>
        <p:spPr>
          <a:xfrm>
            <a:off x="1537930" y="5811917"/>
            <a:ext cx="6812280" cy="635079"/>
          </a:xfrm>
          <a:prstGeom prst="rect">
            <a:avLst/>
          </a:prstGeom>
          <a:noFill/>
        </p:spPr>
        <p:txBody>
          <a:bodyPr wrap="square" lIns="0" tIns="0" rIns="0" bIns="0" rtlCol="0" anchor="t"/>
          <a:lstStyle/>
          <a:p>
            <a:pPr marL="0" indent="0" algn="l">
              <a:lnSpc>
                <a:spcPts val="2500"/>
              </a:lnSpc>
              <a:buNone/>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Recents/Overview, split-screen support (varies by version and vendor) and robust app switching.</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486400" cy="8229600"/>
          </a:xfrm>
          <a:prstGeom prst="rect">
            <a:avLst/>
          </a:prstGeom>
          <a:solidFill>
            <a:srgbClr val="CCEEFF"/>
          </a:solidFill>
        </p:spPr>
      </p:sp>
      <p:pic>
        <p:nvPicPr>
          <p:cNvPr id="3" name="Image 0" descr="preencoded.png"/>
          <p:cNvPicPr>
            <a:picLocks noChangeAspect="1"/>
          </p:cNvPicPr>
          <p:nvPr/>
        </p:nvPicPr>
        <p:blipFill>
          <a:blip r:embed="rId1"/>
          <a:stretch>
            <a:fillRect/>
          </a:stretch>
        </p:blipFill>
        <p:spPr>
          <a:xfrm>
            <a:off x="99179" y="589478"/>
            <a:ext cx="5287923" cy="7050643"/>
          </a:xfrm>
          <a:prstGeom prst="rect">
            <a:avLst/>
          </a:prstGeom>
        </p:spPr>
      </p:pic>
      <p:sp>
        <p:nvSpPr>
          <p:cNvPr id="4" name="Text 1"/>
          <p:cNvSpPr/>
          <p:nvPr/>
        </p:nvSpPr>
        <p:spPr>
          <a:xfrm>
            <a:off x="6280190" y="2846427"/>
            <a:ext cx="6844189" cy="651272"/>
          </a:xfrm>
          <a:prstGeom prst="rect">
            <a:avLst/>
          </a:prstGeom>
          <a:noFill/>
        </p:spPr>
        <p:txBody>
          <a:bodyPr wrap="non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Applications &amp; Development</a:t>
            </a:r>
            <a:endParaRPr lang="en-US" sz="4100" dirty="0"/>
          </a:p>
        </p:txBody>
      </p:sp>
      <p:sp>
        <p:nvSpPr>
          <p:cNvPr id="5" name="Text 2"/>
          <p:cNvSpPr/>
          <p:nvPr/>
        </p:nvSpPr>
        <p:spPr>
          <a:xfrm>
            <a:off x="6280190" y="3795355"/>
            <a:ext cx="7556421" cy="1587698"/>
          </a:xfrm>
          <a:prstGeom prst="rect">
            <a:avLst/>
          </a:prstGeom>
          <a:noFill/>
        </p:spPr>
        <p:txBody>
          <a:bodyPr wrap="square" lIns="0" tIns="0" rIns="0" bIns="0" rtlCol="0" anchor="t"/>
          <a:lstStyle/>
          <a:p>
            <a:pPr marL="0" indent="0" algn="l">
              <a:lnSpc>
                <a:spcPts val="2500"/>
              </a:lnSpc>
              <a:buNone/>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Apps are distributed as APKs and commonly delivered via Google Play Store (over 3M apps historically). Developers use the Android SDK and Android Studio; Kotlin is Google’s preferred language (since 2019) while Java and C++ remain supported. Google decoupled many components (Play Services, Project Mainline) to deliver updates outside full OS upgrades.</a:t>
            </a:r>
            <a:endParaRPr lang="en-US" sz="1550" dirty="0"/>
          </a:p>
        </p:txBody>
      </p:sp>
      <p:sp>
        <p:nvSpPr>
          <p:cNvPr id="14" name="Rectangles 13"/>
          <p:cNvSpPr/>
          <p:nvPr/>
        </p:nvSpPr>
        <p:spPr>
          <a:xfrm>
            <a:off x="12640310" y="7768590"/>
            <a:ext cx="1879600" cy="32956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56905" y="502087"/>
            <a:ext cx="6040874" cy="528995"/>
          </a:xfrm>
          <a:prstGeom prst="rect">
            <a:avLst/>
          </a:prstGeom>
          <a:noFill/>
        </p:spPr>
        <p:txBody>
          <a:bodyPr wrap="none" lIns="0" tIns="0" rIns="0" bIns="0" rtlCol="0" anchor="t"/>
          <a:lstStyle/>
          <a:p>
            <a:pPr marL="0" indent="0" algn="l">
              <a:lnSpc>
                <a:spcPts val="4150"/>
              </a:lnSpc>
              <a:buNone/>
            </a:pPr>
            <a:r>
              <a:rPr lang="en-US" sz="3300" b="1" dirty="0">
                <a:solidFill>
                  <a:srgbClr val="000000"/>
                </a:solidFill>
                <a:latin typeface="Petrona Bold" pitchFamily="34" charset="0"/>
                <a:ea typeface="Petrona Bold" pitchFamily="34" charset="-122"/>
                <a:cs typeface="Petrona Bold" pitchFamily="34" charset="-120"/>
              </a:rPr>
              <a:t>Software Architecture &amp; Kernel</a:t>
            </a:r>
            <a:endParaRPr lang="en-US" sz="3300" dirty="0"/>
          </a:p>
        </p:txBody>
      </p:sp>
      <p:pic>
        <p:nvPicPr>
          <p:cNvPr id="3" name="Image 0" descr="preencoded.png"/>
          <p:cNvPicPr>
            <a:picLocks noChangeAspect="1"/>
          </p:cNvPicPr>
          <p:nvPr/>
        </p:nvPicPr>
        <p:blipFill>
          <a:blip r:embed="rId1"/>
          <a:stretch>
            <a:fillRect/>
          </a:stretch>
        </p:blipFill>
        <p:spPr>
          <a:xfrm>
            <a:off x="956905" y="1293019"/>
            <a:ext cx="12716470" cy="5819656"/>
          </a:xfrm>
          <a:prstGeom prst="rect">
            <a:avLst/>
          </a:prstGeom>
        </p:spPr>
      </p:pic>
      <p:sp>
        <p:nvSpPr>
          <p:cNvPr id="4" name="Text 1"/>
          <p:cNvSpPr/>
          <p:nvPr/>
        </p:nvSpPr>
        <p:spPr>
          <a:xfrm>
            <a:off x="10271784" y="2048207"/>
            <a:ext cx="3064049" cy="369210"/>
          </a:xfrm>
          <a:prstGeom prst="rect">
            <a:avLst/>
          </a:prstGeom>
          <a:noFill/>
        </p:spPr>
        <p:txBody>
          <a:bodyPr wrap="non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Runtime &amp; Framework</a:t>
            </a:r>
            <a:endParaRPr lang="en-US" sz="2300" dirty="0"/>
          </a:p>
        </p:txBody>
      </p:sp>
      <p:sp>
        <p:nvSpPr>
          <p:cNvPr id="5" name="Text 2"/>
          <p:cNvSpPr/>
          <p:nvPr/>
        </p:nvSpPr>
        <p:spPr>
          <a:xfrm>
            <a:off x="10271784" y="2517435"/>
            <a:ext cx="3100579" cy="509861"/>
          </a:xfrm>
          <a:prstGeom prst="rect">
            <a:avLst/>
          </a:prstGeom>
          <a:noFill/>
        </p:spPr>
        <p:txBody>
          <a:bodyPr wrap="square" lIns="0" tIns="0" rIns="0" bIns="0" rtlCol="0" anchor="t"/>
          <a:lstStyle/>
          <a:p>
            <a:pPr marL="0" indent="0" algn="l">
              <a:lnSpc>
                <a:spcPts val="2000"/>
              </a:lnSpc>
              <a:buNone/>
            </a:pPr>
            <a:r>
              <a:rPr lang="en-US" sz="1750" dirty="0">
                <a:solidFill>
                  <a:srgbClr val="272525"/>
                </a:solidFill>
                <a:latin typeface="Inter" panose="02000503000000020004" pitchFamily="34" charset="0"/>
                <a:ea typeface="Inter" panose="02000503000000020004" pitchFamily="34" charset="-122"/>
                <a:cs typeface="Inter" panose="02000503000000020004" pitchFamily="34" charset="-120"/>
              </a:rPr>
              <a:t>ART, application framework, and apps</a:t>
            </a:r>
            <a:endParaRPr lang="en-US" sz="1750" dirty="0"/>
          </a:p>
        </p:txBody>
      </p:sp>
      <p:sp>
        <p:nvSpPr>
          <p:cNvPr id="6" name="Text 3"/>
          <p:cNvSpPr/>
          <p:nvPr/>
        </p:nvSpPr>
        <p:spPr>
          <a:xfrm>
            <a:off x="1257600" y="3961064"/>
            <a:ext cx="2850532" cy="369209"/>
          </a:xfrm>
          <a:prstGeom prst="rect">
            <a:avLst/>
          </a:prstGeom>
          <a:noFill/>
        </p:spPr>
        <p:txBody>
          <a:bodyPr wrap="none" lIns="0" tIns="0" rIns="0" bIns="0" rtlCol="0" anchor="t"/>
          <a:lstStyle/>
          <a:p>
            <a:pPr marL="0" indent="0" algn="r">
              <a:lnSpc>
                <a:spcPts val="2900"/>
              </a:lnSpc>
              <a:buNone/>
            </a:pPr>
            <a:r>
              <a:rPr lang="en-US" sz="2300" b="1" dirty="0">
                <a:solidFill>
                  <a:srgbClr val="272525"/>
                </a:solidFill>
                <a:latin typeface="Petrona Bold" pitchFamily="34" charset="0"/>
                <a:ea typeface="Petrona Bold" pitchFamily="34" charset="-122"/>
                <a:cs typeface="Petrona Bold" pitchFamily="34" charset="-120"/>
              </a:rPr>
              <a:t>Native &amp; Middleware</a:t>
            </a:r>
            <a:endParaRPr lang="en-US" sz="2300" dirty="0"/>
          </a:p>
        </p:txBody>
      </p:sp>
      <p:sp>
        <p:nvSpPr>
          <p:cNvPr id="7" name="Text 4"/>
          <p:cNvSpPr/>
          <p:nvPr/>
        </p:nvSpPr>
        <p:spPr>
          <a:xfrm>
            <a:off x="1257600" y="4430292"/>
            <a:ext cx="2850532" cy="509861"/>
          </a:xfrm>
          <a:prstGeom prst="rect">
            <a:avLst/>
          </a:prstGeom>
          <a:noFill/>
        </p:spPr>
        <p:txBody>
          <a:bodyPr wrap="square" lIns="0" tIns="0" rIns="0" bIns="0" rtlCol="0" anchor="t"/>
          <a:lstStyle/>
          <a:p>
            <a:pPr marL="0" indent="0" algn="r">
              <a:lnSpc>
                <a:spcPts val="2000"/>
              </a:lnSpc>
              <a:buNone/>
            </a:pPr>
            <a:r>
              <a:rPr lang="en-US" sz="1750" dirty="0">
                <a:solidFill>
                  <a:srgbClr val="272525"/>
                </a:solidFill>
                <a:latin typeface="Inter" panose="02000503000000020004" pitchFamily="34" charset="0"/>
                <a:ea typeface="Inter" panose="02000503000000020004" pitchFamily="34" charset="-122"/>
                <a:cs typeface="Inter" panose="02000503000000020004" pitchFamily="34" charset="-120"/>
              </a:rPr>
              <a:t>Native libs, HALs, and middleware services</a:t>
            </a:r>
            <a:endParaRPr lang="en-US" sz="1750" dirty="0"/>
          </a:p>
        </p:txBody>
      </p:sp>
      <p:sp>
        <p:nvSpPr>
          <p:cNvPr id="8" name="Text 5"/>
          <p:cNvSpPr/>
          <p:nvPr/>
        </p:nvSpPr>
        <p:spPr>
          <a:xfrm>
            <a:off x="10271784" y="4948749"/>
            <a:ext cx="2953676" cy="369210"/>
          </a:xfrm>
          <a:prstGeom prst="rect">
            <a:avLst/>
          </a:prstGeom>
          <a:noFill/>
        </p:spPr>
        <p:txBody>
          <a:bodyPr wrap="non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Core Kernel</a:t>
            </a:r>
            <a:endParaRPr lang="en-US" sz="2300" dirty="0"/>
          </a:p>
        </p:txBody>
      </p:sp>
      <p:sp>
        <p:nvSpPr>
          <p:cNvPr id="9" name="Text 6"/>
          <p:cNvSpPr/>
          <p:nvPr/>
        </p:nvSpPr>
        <p:spPr>
          <a:xfrm>
            <a:off x="10271784" y="5417977"/>
            <a:ext cx="3100579" cy="509861"/>
          </a:xfrm>
          <a:prstGeom prst="rect">
            <a:avLst/>
          </a:prstGeom>
          <a:noFill/>
        </p:spPr>
        <p:txBody>
          <a:bodyPr wrap="square" lIns="0" tIns="0" rIns="0" bIns="0" rtlCol="0" anchor="t"/>
          <a:lstStyle/>
          <a:p>
            <a:pPr marL="0" indent="0" algn="l">
              <a:lnSpc>
                <a:spcPts val="2000"/>
              </a:lnSpc>
              <a:buNone/>
            </a:pPr>
            <a:r>
              <a:rPr lang="en-US" sz="1750" dirty="0">
                <a:solidFill>
                  <a:srgbClr val="272525"/>
                </a:solidFill>
                <a:latin typeface="Inter" panose="02000503000000020004" pitchFamily="34" charset="0"/>
                <a:ea typeface="Inter" panose="02000503000000020004" pitchFamily="34" charset="-122"/>
                <a:cs typeface="Inter" panose="02000503000000020004" pitchFamily="34" charset="-120"/>
              </a:rPr>
              <a:t>Linux kernel with Android subsystems</a:t>
            </a:r>
            <a:endParaRPr lang="en-US" sz="1750" dirty="0"/>
          </a:p>
        </p:txBody>
      </p:sp>
      <p:sp>
        <p:nvSpPr>
          <p:cNvPr id="10" name="Text 7"/>
          <p:cNvSpPr/>
          <p:nvPr/>
        </p:nvSpPr>
        <p:spPr>
          <a:xfrm>
            <a:off x="956905" y="7260074"/>
            <a:ext cx="12716470" cy="467439"/>
          </a:xfrm>
          <a:prstGeom prst="rect">
            <a:avLst/>
          </a:prstGeom>
          <a:noFill/>
        </p:spPr>
        <p:txBody>
          <a:bodyPr wrap="square" lIns="0" tIns="0" rIns="0" bIns="0" rtlCol="0" anchor="t"/>
          <a:lstStyle/>
          <a:p>
            <a:pPr marL="0" indent="0" algn="l">
              <a:lnSpc>
                <a:spcPts val="1800"/>
              </a:lnSpc>
              <a:buNone/>
            </a:pPr>
            <a:r>
              <a:rPr lang="en-US" sz="1250" dirty="0">
                <a:solidFill>
                  <a:srgbClr val="272525"/>
                </a:solidFill>
                <a:latin typeface="Inter" panose="02000503000000020004" pitchFamily="34" charset="0"/>
                <a:ea typeface="Inter" panose="02000503000000020004" pitchFamily="34" charset="-122"/>
                <a:cs typeface="Inter" panose="02000503000000020004" pitchFamily="34" charset="-120"/>
              </a:rPr>
              <a:t>Android runs on a Linux kernel variant with additional Android-specific subsystems (ashmem, ION, wake locks). ART (Android Runtime) replaced Dalvik and compiles apps AOT. Google maintains experimental work to rebase Android on newer Linux LTS kernels; components combine open-source and proprietary pieces.</a:t>
            </a:r>
            <a:endParaRPr lang="en-US" sz="1250" dirty="0"/>
          </a:p>
        </p:txBody>
      </p:sp>
      <p:sp>
        <p:nvSpPr>
          <p:cNvPr id="14" name="Rectangles 13"/>
          <p:cNvSpPr/>
          <p:nvPr/>
        </p:nvSpPr>
        <p:spPr>
          <a:xfrm>
            <a:off x="12640310" y="7768590"/>
            <a:ext cx="1879600" cy="32956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486400" cy="8229600"/>
          </a:xfrm>
          <a:prstGeom prst="rect">
            <a:avLst/>
          </a:prstGeom>
          <a:solidFill>
            <a:srgbClr val="CCEEFF"/>
          </a:solidFill>
        </p:spPr>
      </p:sp>
      <p:pic>
        <p:nvPicPr>
          <p:cNvPr id="3" name="Image 0" descr="preencoded.png"/>
          <p:cNvPicPr>
            <a:picLocks noChangeAspect="1"/>
          </p:cNvPicPr>
          <p:nvPr/>
        </p:nvPicPr>
        <p:blipFill>
          <a:blip r:embed="rId1"/>
          <a:stretch>
            <a:fillRect/>
          </a:stretch>
        </p:blipFill>
        <p:spPr>
          <a:xfrm>
            <a:off x="99179" y="589478"/>
            <a:ext cx="5287923" cy="7050643"/>
          </a:xfrm>
          <a:prstGeom prst="rect">
            <a:avLst/>
          </a:prstGeom>
        </p:spPr>
      </p:pic>
      <p:sp>
        <p:nvSpPr>
          <p:cNvPr id="4" name="Text 1"/>
          <p:cNvSpPr/>
          <p:nvPr/>
        </p:nvSpPr>
        <p:spPr>
          <a:xfrm>
            <a:off x="6280190" y="1573054"/>
            <a:ext cx="6540937" cy="651272"/>
          </a:xfrm>
          <a:prstGeom prst="rect">
            <a:avLst/>
          </a:prstGeom>
          <a:noFill/>
        </p:spPr>
        <p:txBody>
          <a:bodyPr wrap="non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Security, Privacy &amp; Updates</a:t>
            </a:r>
            <a:endParaRPr lang="en-US" sz="4100" dirty="0"/>
          </a:p>
        </p:txBody>
      </p:sp>
      <p:sp>
        <p:nvSpPr>
          <p:cNvPr id="5" name="Shape 2"/>
          <p:cNvSpPr/>
          <p:nvPr/>
        </p:nvSpPr>
        <p:spPr>
          <a:xfrm>
            <a:off x="6280190" y="2521982"/>
            <a:ext cx="3679031" cy="2444353"/>
          </a:xfrm>
          <a:prstGeom prst="roundRect">
            <a:avLst>
              <a:gd name="adj" fmla="val 3410"/>
            </a:avLst>
          </a:prstGeom>
          <a:solidFill>
            <a:srgbClr val="CCEEFF"/>
          </a:solidFill>
          <a:ln w="7620">
            <a:solidFill>
              <a:srgbClr val="B2D4E5"/>
            </a:solidFill>
            <a:prstDash val="solid"/>
          </a:ln>
        </p:spPr>
      </p:sp>
      <p:sp>
        <p:nvSpPr>
          <p:cNvPr id="6" name="Text 3"/>
          <p:cNvSpPr/>
          <p:nvPr/>
        </p:nvSpPr>
        <p:spPr>
          <a:xfrm>
            <a:off x="6486168" y="2727960"/>
            <a:ext cx="2604968" cy="325636"/>
          </a:xfrm>
          <a:prstGeom prst="rect">
            <a:avLst/>
          </a:prstGeom>
          <a:noFill/>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Security features</a:t>
            </a:r>
            <a:endParaRPr lang="en-US" sz="2050" dirty="0"/>
          </a:p>
        </p:txBody>
      </p:sp>
      <p:sp>
        <p:nvSpPr>
          <p:cNvPr id="7" name="Text 4"/>
          <p:cNvSpPr/>
          <p:nvPr/>
        </p:nvSpPr>
        <p:spPr>
          <a:xfrm>
            <a:off x="6486168" y="3172658"/>
            <a:ext cx="3267075" cy="1270159"/>
          </a:xfrm>
          <a:prstGeom prst="rect">
            <a:avLst/>
          </a:prstGeom>
          <a:noFill/>
        </p:spPr>
        <p:txBody>
          <a:bodyPr wrap="square" lIns="0" tIns="0" rIns="0" bIns="0" rtlCol="0" anchor="t"/>
          <a:lstStyle/>
          <a:p>
            <a:pPr marL="0" indent="0" algn="l">
              <a:lnSpc>
                <a:spcPts val="2500"/>
              </a:lnSpc>
              <a:buNone/>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Sandboxed apps, Verify Apps (constant scanning), Verified Boot and dm-verity for runtime integrity.</a:t>
            </a:r>
            <a:endParaRPr lang="en-US" sz="1550" dirty="0"/>
          </a:p>
        </p:txBody>
      </p:sp>
      <p:sp>
        <p:nvSpPr>
          <p:cNvPr id="8" name="Shape 5"/>
          <p:cNvSpPr/>
          <p:nvPr/>
        </p:nvSpPr>
        <p:spPr>
          <a:xfrm>
            <a:off x="10157579" y="2521982"/>
            <a:ext cx="3679031" cy="2444353"/>
          </a:xfrm>
          <a:prstGeom prst="roundRect">
            <a:avLst>
              <a:gd name="adj" fmla="val 3410"/>
            </a:avLst>
          </a:prstGeom>
          <a:solidFill>
            <a:srgbClr val="CCEEFF"/>
          </a:solidFill>
          <a:ln w="7620">
            <a:solidFill>
              <a:srgbClr val="B2D4E5"/>
            </a:solidFill>
            <a:prstDash val="solid"/>
          </a:ln>
        </p:spPr>
      </p:sp>
      <p:sp>
        <p:nvSpPr>
          <p:cNvPr id="9" name="Text 6"/>
          <p:cNvSpPr/>
          <p:nvPr/>
        </p:nvSpPr>
        <p:spPr>
          <a:xfrm>
            <a:off x="10363557" y="2727960"/>
            <a:ext cx="2604968" cy="325636"/>
          </a:xfrm>
          <a:prstGeom prst="rect">
            <a:avLst/>
          </a:prstGeom>
          <a:noFill/>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Update challenges</a:t>
            </a:r>
            <a:endParaRPr lang="en-US" sz="2050" dirty="0"/>
          </a:p>
        </p:txBody>
      </p:sp>
      <p:sp>
        <p:nvSpPr>
          <p:cNvPr id="10" name="Text 7"/>
          <p:cNvSpPr/>
          <p:nvPr/>
        </p:nvSpPr>
        <p:spPr>
          <a:xfrm>
            <a:off x="10363557" y="3172658"/>
            <a:ext cx="3267075" cy="1587698"/>
          </a:xfrm>
          <a:prstGeom prst="rect">
            <a:avLst/>
          </a:prstGeom>
          <a:noFill/>
        </p:spPr>
        <p:txBody>
          <a:bodyPr wrap="square" lIns="0" tIns="0" rIns="0" bIns="0" rtlCol="0" anchor="t"/>
          <a:lstStyle/>
          <a:p>
            <a:pPr marL="0" indent="0" algn="l">
              <a:lnSpc>
                <a:spcPts val="2500"/>
              </a:lnSpc>
              <a:buNone/>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Fragmented hardware and vendor customizations cause delayed patches; Google introduced Project Treble and Project Mainline to speed updates.</a:t>
            </a:r>
            <a:endParaRPr lang="en-US" sz="1550" dirty="0"/>
          </a:p>
        </p:txBody>
      </p:sp>
      <p:sp>
        <p:nvSpPr>
          <p:cNvPr id="11" name="Shape 8"/>
          <p:cNvSpPr/>
          <p:nvPr/>
        </p:nvSpPr>
        <p:spPr>
          <a:xfrm>
            <a:off x="6280190" y="5164693"/>
            <a:ext cx="7556421" cy="1491734"/>
          </a:xfrm>
          <a:prstGeom prst="roundRect">
            <a:avLst>
              <a:gd name="adj" fmla="val 5588"/>
            </a:avLst>
          </a:prstGeom>
          <a:solidFill>
            <a:srgbClr val="CCEEFF"/>
          </a:solidFill>
          <a:ln w="7620">
            <a:solidFill>
              <a:srgbClr val="B2D4E5"/>
            </a:solidFill>
            <a:prstDash val="solid"/>
          </a:ln>
        </p:spPr>
      </p:sp>
      <p:sp>
        <p:nvSpPr>
          <p:cNvPr id="12" name="Text 9"/>
          <p:cNvSpPr/>
          <p:nvPr/>
        </p:nvSpPr>
        <p:spPr>
          <a:xfrm>
            <a:off x="6486168" y="5370671"/>
            <a:ext cx="2604968" cy="325636"/>
          </a:xfrm>
          <a:prstGeom prst="rect">
            <a:avLst/>
          </a:prstGeom>
          <a:noFill/>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Privacy concerns</a:t>
            </a:r>
            <a:endParaRPr lang="en-US" sz="2050" dirty="0"/>
          </a:p>
        </p:txBody>
      </p:sp>
      <p:sp>
        <p:nvSpPr>
          <p:cNvPr id="13" name="Text 10"/>
          <p:cNvSpPr/>
          <p:nvPr/>
        </p:nvSpPr>
        <p:spPr>
          <a:xfrm>
            <a:off x="6486168" y="5815370"/>
            <a:ext cx="7144464" cy="635079"/>
          </a:xfrm>
          <a:prstGeom prst="rect">
            <a:avLst/>
          </a:prstGeom>
          <a:noFill/>
        </p:spPr>
        <p:txBody>
          <a:bodyPr wrap="square" lIns="0" tIns="0" rIns="0" bIns="0" rtlCol="0" anchor="t"/>
          <a:lstStyle/>
          <a:p>
            <a:pPr marL="0" indent="0" algn="l">
              <a:lnSpc>
                <a:spcPts val="2500"/>
              </a:lnSpc>
              <a:buNone/>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Issues include preinstalled software data collection, large-scale telemetry, and documented regulatory fines (e.g., CNIL in France, ACCC in Australia).</a:t>
            </a:r>
            <a:endParaRPr lang="en-US" sz="1550" dirty="0"/>
          </a:p>
        </p:txBody>
      </p:sp>
      <p:sp>
        <p:nvSpPr>
          <p:cNvPr id="14" name="Rectangles 13"/>
          <p:cNvSpPr/>
          <p:nvPr/>
        </p:nvSpPr>
        <p:spPr>
          <a:xfrm>
            <a:off x="12640310" y="7768590"/>
            <a:ext cx="1879600" cy="32956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305163"/>
            <a:ext cx="8007310" cy="651272"/>
          </a:xfrm>
          <a:prstGeom prst="rect">
            <a:avLst/>
          </a:prstGeom>
          <a:noFill/>
        </p:spPr>
        <p:txBody>
          <a:bodyPr wrap="non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Market Reach, Devices &amp; Variants</a:t>
            </a:r>
            <a:endParaRPr lang="en-US" sz="4100" dirty="0"/>
          </a:p>
        </p:txBody>
      </p:sp>
      <p:pic>
        <p:nvPicPr>
          <p:cNvPr id="3" name="Image 0" descr="preencoded.png"/>
          <p:cNvPicPr>
            <a:picLocks noChangeAspect="1"/>
          </p:cNvPicPr>
          <p:nvPr/>
        </p:nvPicPr>
        <p:blipFill>
          <a:blip r:embed="rId1"/>
          <a:stretch>
            <a:fillRect/>
          </a:stretch>
        </p:blipFill>
        <p:spPr>
          <a:xfrm>
            <a:off x="801410" y="2481977"/>
            <a:ext cx="3137773" cy="3137773"/>
          </a:xfrm>
          <a:prstGeom prst="rect">
            <a:avLst/>
          </a:prstGeom>
        </p:spPr>
      </p:pic>
      <p:pic>
        <p:nvPicPr>
          <p:cNvPr id="4" name="Image 1" descr="preencoded.png"/>
          <p:cNvPicPr>
            <a:picLocks noChangeAspect="1"/>
          </p:cNvPicPr>
          <p:nvPr/>
        </p:nvPicPr>
        <p:blipFill>
          <a:blip r:embed="rId2"/>
          <a:stretch>
            <a:fillRect/>
          </a:stretch>
        </p:blipFill>
        <p:spPr>
          <a:xfrm>
            <a:off x="4097893" y="2481977"/>
            <a:ext cx="3137892" cy="3137892"/>
          </a:xfrm>
          <a:prstGeom prst="rect">
            <a:avLst/>
          </a:prstGeom>
        </p:spPr>
      </p:pic>
      <p:pic>
        <p:nvPicPr>
          <p:cNvPr id="5" name="Image 2" descr="preencoded.png"/>
          <p:cNvPicPr>
            <a:picLocks noChangeAspect="1"/>
          </p:cNvPicPr>
          <p:nvPr/>
        </p:nvPicPr>
        <p:blipFill>
          <a:blip r:embed="rId3"/>
          <a:stretch>
            <a:fillRect/>
          </a:stretch>
        </p:blipFill>
        <p:spPr>
          <a:xfrm>
            <a:off x="7394496" y="2481977"/>
            <a:ext cx="3137892" cy="3137892"/>
          </a:xfrm>
          <a:prstGeom prst="rect">
            <a:avLst/>
          </a:prstGeom>
        </p:spPr>
      </p:pic>
      <p:pic>
        <p:nvPicPr>
          <p:cNvPr id="6" name="Image 3" descr="preencoded.png"/>
          <p:cNvPicPr>
            <a:picLocks noChangeAspect="1"/>
          </p:cNvPicPr>
          <p:nvPr/>
        </p:nvPicPr>
        <p:blipFill>
          <a:blip r:embed="rId4"/>
          <a:stretch>
            <a:fillRect/>
          </a:stretch>
        </p:blipFill>
        <p:spPr>
          <a:xfrm>
            <a:off x="10691098" y="2481977"/>
            <a:ext cx="3137892" cy="3137892"/>
          </a:xfrm>
          <a:prstGeom prst="rect">
            <a:avLst/>
          </a:prstGeom>
        </p:spPr>
      </p:pic>
      <p:sp>
        <p:nvSpPr>
          <p:cNvPr id="7" name="Text 1"/>
          <p:cNvSpPr/>
          <p:nvPr/>
        </p:nvSpPr>
        <p:spPr>
          <a:xfrm>
            <a:off x="793790" y="5971818"/>
            <a:ext cx="13042821" cy="952619"/>
          </a:xfrm>
          <a:prstGeom prst="rect">
            <a:avLst/>
          </a:prstGeom>
          <a:noFill/>
        </p:spPr>
        <p:txBody>
          <a:bodyPr wrap="square" lIns="0" tIns="0" rIns="0" bIns="0" rtlCol="0" anchor="t"/>
          <a:lstStyle/>
          <a:p>
            <a:pPr marL="0" indent="0" algn="l">
              <a:lnSpc>
                <a:spcPts val="2500"/>
              </a:lnSpc>
              <a:buNone/>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Android’s ecosystem spans smartphones, tablets, wearables (Wear OS), TVs (Android TV), cars (Android Automotive), XR and many embedded devices. As of Q1 2025 Android held roughly 76% mobile market share globally and powers billions of active devices worldwide.</a:t>
            </a:r>
            <a:endParaRPr lang="en-US" sz="1550" dirty="0"/>
          </a:p>
        </p:txBody>
      </p:sp>
      <p:sp>
        <p:nvSpPr>
          <p:cNvPr id="14" name="Rectangles 13"/>
          <p:cNvSpPr/>
          <p:nvPr/>
        </p:nvSpPr>
        <p:spPr>
          <a:xfrm>
            <a:off x="12640310" y="7768590"/>
            <a:ext cx="1879600" cy="32956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486400" cy="8229600"/>
          </a:xfrm>
          <a:prstGeom prst="rect">
            <a:avLst/>
          </a:prstGeom>
          <a:solidFill>
            <a:srgbClr val="CCEEFF"/>
          </a:solidFill>
        </p:spPr>
      </p:sp>
      <p:pic>
        <p:nvPicPr>
          <p:cNvPr id="3" name="Image 0" descr="preencoded.png"/>
          <p:cNvPicPr>
            <a:picLocks noChangeAspect="1"/>
          </p:cNvPicPr>
          <p:nvPr/>
        </p:nvPicPr>
        <p:blipFill>
          <a:blip r:embed="rId1"/>
          <a:stretch>
            <a:fillRect/>
          </a:stretch>
        </p:blipFill>
        <p:spPr>
          <a:xfrm>
            <a:off x="99179" y="589478"/>
            <a:ext cx="5287923" cy="7050643"/>
          </a:xfrm>
          <a:prstGeom prst="rect">
            <a:avLst/>
          </a:prstGeom>
        </p:spPr>
      </p:pic>
      <p:sp>
        <p:nvSpPr>
          <p:cNvPr id="4" name="Text 1"/>
          <p:cNvSpPr/>
          <p:nvPr/>
        </p:nvSpPr>
        <p:spPr>
          <a:xfrm>
            <a:off x="6280190" y="993100"/>
            <a:ext cx="7556421" cy="1302544"/>
          </a:xfrm>
          <a:prstGeom prst="rect">
            <a:avLst/>
          </a:prstGeom>
          <a:noFill/>
        </p:spPr>
        <p:txBody>
          <a:bodyPr wrap="squar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Criticism, Legal &amp; Regulatory Issues</a:t>
            </a:r>
            <a:endParaRPr lang="en-US" sz="4100" dirty="0"/>
          </a:p>
        </p:txBody>
      </p:sp>
      <p:sp>
        <p:nvSpPr>
          <p:cNvPr id="5" name="Shape 2"/>
          <p:cNvSpPr/>
          <p:nvPr/>
        </p:nvSpPr>
        <p:spPr>
          <a:xfrm>
            <a:off x="6280190" y="2890957"/>
            <a:ext cx="2386489" cy="4345543"/>
          </a:xfrm>
          <a:prstGeom prst="roundRect">
            <a:avLst>
              <a:gd name="adj" fmla="val 4598"/>
            </a:avLst>
          </a:prstGeom>
          <a:solidFill>
            <a:srgbClr val="FFFFFF">
              <a:alpha val="95000"/>
            </a:srgbClr>
          </a:solidFill>
        </p:spPr>
      </p:sp>
      <p:sp>
        <p:nvSpPr>
          <p:cNvPr id="6" name="Shape 3"/>
          <p:cNvSpPr/>
          <p:nvPr/>
        </p:nvSpPr>
        <p:spPr>
          <a:xfrm>
            <a:off x="6280190" y="2868097"/>
            <a:ext cx="2386489" cy="91440"/>
          </a:xfrm>
          <a:prstGeom prst="roundRect">
            <a:avLst>
              <a:gd name="adj" fmla="val 91163"/>
            </a:avLst>
          </a:prstGeom>
          <a:solidFill>
            <a:srgbClr val="007EBD"/>
          </a:solidFill>
        </p:spPr>
      </p:sp>
      <p:sp>
        <p:nvSpPr>
          <p:cNvPr id="7" name="Shape 4"/>
          <p:cNvSpPr/>
          <p:nvPr/>
        </p:nvSpPr>
        <p:spPr>
          <a:xfrm>
            <a:off x="7175778" y="2593300"/>
            <a:ext cx="595313" cy="595313"/>
          </a:xfrm>
          <a:prstGeom prst="roundRect">
            <a:avLst>
              <a:gd name="adj" fmla="val 153600"/>
            </a:avLst>
          </a:prstGeom>
          <a:solidFill>
            <a:srgbClr val="007EBD"/>
          </a:solidFill>
        </p:spPr>
      </p:sp>
      <p:sp>
        <p:nvSpPr>
          <p:cNvPr id="8" name="Text 5"/>
          <p:cNvSpPr/>
          <p:nvPr/>
        </p:nvSpPr>
        <p:spPr>
          <a:xfrm>
            <a:off x="7354372" y="2742128"/>
            <a:ext cx="238125" cy="297656"/>
          </a:xfrm>
          <a:prstGeom prst="rect">
            <a:avLst/>
          </a:prstGeom>
          <a:noFill/>
        </p:spPr>
        <p:txBody>
          <a:bodyPr wrap="none" lIns="0" tIns="0" rIns="0" bIns="0" rtlCol="0" anchor="t"/>
          <a:lstStyle/>
          <a:p>
            <a:pPr marL="0" indent="0" algn="l">
              <a:lnSpc>
                <a:spcPts val="3000"/>
              </a:lnSpc>
              <a:buNone/>
            </a:pPr>
            <a:r>
              <a:rPr lang="en-US" sz="1850" b="1" dirty="0">
                <a:solidFill>
                  <a:srgbClr val="FFFFFF"/>
                </a:solidFill>
                <a:latin typeface="Petrona Bold" pitchFamily="34" charset="0"/>
                <a:ea typeface="Petrona Bold" pitchFamily="34" charset="-122"/>
                <a:cs typeface="Petrona Bold" pitchFamily="34" charset="-120"/>
              </a:rPr>
              <a:t>1</a:t>
            </a:r>
            <a:endParaRPr lang="en-US" sz="1850" dirty="0"/>
          </a:p>
        </p:txBody>
      </p:sp>
      <p:sp>
        <p:nvSpPr>
          <p:cNvPr id="9" name="Text 6"/>
          <p:cNvSpPr/>
          <p:nvPr/>
        </p:nvSpPr>
        <p:spPr>
          <a:xfrm>
            <a:off x="6501408" y="3387090"/>
            <a:ext cx="1944053" cy="325636"/>
          </a:xfrm>
          <a:prstGeom prst="rect">
            <a:avLst/>
          </a:prstGeom>
          <a:noFill/>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Antitrust</a:t>
            </a:r>
            <a:endParaRPr lang="en-US" sz="2050" dirty="0"/>
          </a:p>
        </p:txBody>
      </p:sp>
      <p:sp>
        <p:nvSpPr>
          <p:cNvPr id="10" name="Text 7"/>
          <p:cNvSpPr/>
          <p:nvPr/>
        </p:nvSpPr>
        <p:spPr>
          <a:xfrm>
            <a:off x="6501408" y="3831788"/>
            <a:ext cx="1944053" cy="1905238"/>
          </a:xfrm>
          <a:prstGeom prst="rect">
            <a:avLst/>
          </a:prstGeom>
          <a:noFill/>
        </p:spPr>
        <p:txBody>
          <a:bodyPr wrap="square" lIns="0" tIns="0" rIns="0" bIns="0" rtlCol="0" anchor="t"/>
          <a:lstStyle/>
          <a:p>
            <a:pPr marL="0" indent="0" algn="l">
              <a:lnSpc>
                <a:spcPts val="2500"/>
              </a:lnSpc>
              <a:buNone/>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EU antitrust rulings fined Google and forced changes to distribution of GMS and bundling rules in Europe.</a:t>
            </a:r>
            <a:endParaRPr lang="en-US" sz="1550" dirty="0"/>
          </a:p>
        </p:txBody>
      </p:sp>
      <p:sp>
        <p:nvSpPr>
          <p:cNvPr id="11" name="Shape 8"/>
          <p:cNvSpPr/>
          <p:nvPr/>
        </p:nvSpPr>
        <p:spPr>
          <a:xfrm>
            <a:off x="8865037" y="2890957"/>
            <a:ext cx="2386608" cy="4345543"/>
          </a:xfrm>
          <a:prstGeom prst="roundRect">
            <a:avLst>
              <a:gd name="adj" fmla="val 4598"/>
            </a:avLst>
          </a:prstGeom>
          <a:solidFill>
            <a:srgbClr val="FFFFFF">
              <a:alpha val="95000"/>
            </a:srgbClr>
          </a:solidFill>
        </p:spPr>
      </p:sp>
      <p:sp>
        <p:nvSpPr>
          <p:cNvPr id="12" name="Shape 9"/>
          <p:cNvSpPr/>
          <p:nvPr/>
        </p:nvSpPr>
        <p:spPr>
          <a:xfrm>
            <a:off x="8865037" y="2868097"/>
            <a:ext cx="2386608" cy="91440"/>
          </a:xfrm>
          <a:prstGeom prst="roundRect">
            <a:avLst>
              <a:gd name="adj" fmla="val 91163"/>
            </a:avLst>
          </a:prstGeom>
          <a:solidFill>
            <a:srgbClr val="007EBD"/>
          </a:solidFill>
        </p:spPr>
      </p:sp>
      <p:sp>
        <p:nvSpPr>
          <p:cNvPr id="13" name="Shape 10"/>
          <p:cNvSpPr/>
          <p:nvPr/>
        </p:nvSpPr>
        <p:spPr>
          <a:xfrm>
            <a:off x="9760625" y="2593300"/>
            <a:ext cx="595313" cy="595313"/>
          </a:xfrm>
          <a:prstGeom prst="roundRect">
            <a:avLst>
              <a:gd name="adj" fmla="val 153600"/>
            </a:avLst>
          </a:prstGeom>
          <a:solidFill>
            <a:srgbClr val="007EBD"/>
          </a:solidFill>
        </p:spPr>
      </p:sp>
      <p:sp>
        <p:nvSpPr>
          <p:cNvPr id="14" name="Text 11"/>
          <p:cNvSpPr/>
          <p:nvPr/>
        </p:nvSpPr>
        <p:spPr>
          <a:xfrm>
            <a:off x="9939218" y="2742128"/>
            <a:ext cx="238125" cy="297656"/>
          </a:xfrm>
          <a:prstGeom prst="rect">
            <a:avLst/>
          </a:prstGeom>
          <a:noFill/>
        </p:spPr>
        <p:txBody>
          <a:bodyPr wrap="none" lIns="0" tIns="0" rIns="0" bIns="0" rtlCol="0" anchor="t"/>
          <a:lstStyle/>
          <a:p>
            <a:pPr marL="0" indent="0" algn="l">
              <a:lnSpc>
                <a:spcPts val="3000"/>
              </a:lnSpc>
              <a:buNone/>
            </a:pPr>
            <a:r>
              <a:rPr lang="en-US" sz="1850" b="1" dirty="0">
                <a:solidFill>
                  <a:srgbClr val="FFFFFF"/>
                </a:solidFill>
                <a:latin typeface="Petrona Bold" pitchFamily="34" charset="0"/>
                <a:ea typeface="Petrona Bold" pitchFamily="34" charset="-122"/>
                <a:cs typeface="Petrona Bold" pitchFamily="34" charset="-120"/>
              </a:rPr>
              <a:t>2</a:t>
            </a:r>
            <a:endParaRPr lang="en-US" sz="1850" dirty="0"/>
          </a:p>
        </p:txBody>
      </p:sp>
      <p:sp>
        <p:nvSpPr>
          <p:cNvPr id="15" name="Text 12"/>
          <p:cNvSpPr/>
          <p:nvPr/>
        </p:nvSpPr>
        <p:spPr>
          <a:xfrm>
            <a:off x="9086255" y="3387090"/>
            <a:ext cx="1944172" cy="325636"/>
          </a:xfrm>
          <a:prstGeom prst="rect">
            <a:avLst/>
          </a:prstGeom>
          <a:noFill/>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Privacy fines</a:t>
            </a:r>
            <a:endParaRPr lang="en-US" sz="2050" dirty="0"/>
          </a:p>
        </p:txBody>
      </p:sp>
      <p:sp>
        <p:nvSpPr>
          <p:cNvPr id="16" name="Text 13"/>
          <p:cNvSpPr/>
          <p:nvPr/>
        </p:nvSpPr>
        <p:spPr>
          <a:xfrm>
            <a:off x="9086255" y="3831788"/>
            <a:ext cx="1944172" cy="2540318"/>
          </a:xfrm>
          <a:prstGeom prst="rect">
            <a:avLst/>
          </a:prstGeom>
          <a:noFill/>
        </p:spPr>
        <p:txBody>
          <a:bodyPr wrap="square" lIns="0" tIns="0" rIns="0" bIns="0" rtlCol="0" anchor="t"/>
          <a:lstStyle/>
          <a:p>
            <a:pPr marL="0" indent="0" algn="l">
              <a:lnSpc>
                <a:spcPts val="2500"/>
              </a:lnSpc>
              <a:buNone/>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Regulators have penalized Google for data and disclosure practices (e.g., France, Australia, U.S. state attorneys general settlements).</a:t>
            </a:r>
            <a:endParaRPr lang="en-US" sz="1550" dirty="0"/>
          </a:p>
        </p:txBody>
      </p:sp>
      <p:sp>
        <p:nvSpPr>
          <p:cNvPr id="17" name="Shape 14"/>
          <p:cNvSpPr/>
          <p:nvPr/>
        </p:nvSpPr>
        <p:spPr>
          <a:xfrm>
            <a:off x="11450003" y="2890957"/>
            <a:ext cx="2386608" cy="4345543"/>
          </a:xfrm>
          <a:prstGeom prst="roundRect">
            <a:avLst>
              <a:gd name="adj" fmla="val 4598"/>
            </a:avLst>
          </a:prstGeom>
          <a:solidFill>
            <a:srgbClr val="FFFFFF">
              <a:alpha val="95000"/>
            </a:srgbClr>
          </a:solidFill>
        </p:spPr>
      </p:sp>
      <p:sp>
        <p:nvSpPr>
          <p:cNvPr id="18" name="Shape 15"/>
          <p:cNvSpPr/>
          <p:nvPr/>
        </p:nvSpPr>
        <p:spPr>
          <a:xfrm>
            <a:off x="11450003" y="2868097"/>
            <a:ext cx="2386608" cy="91440"/>
          </a:xfrm>
          <a:prstGeom prst="roundRect">
            <a:avLst>
              <a:gd name="adj" fmla="val 91163"/>
            </a:avLst>
          </a:prstGeom>
          <a:solidFill>
            <a:srgbClr val="007EBD"/>
          </a:solidFill>
        </p:spPr>
      </p:sp>
      <p:sp>
        <p:nvSpPr>
          <p:cNvPr id="19" name="Shape 16"/>
          <p:cNvSpPr/>
          <p:nvPr/>
        </p:nvSpPr>
        <p:spPr>
          <a:xfrm>
            <a:off x="12345591" y="2593300"/>
            <a:ext cx="595313" cy="595313"/>
          </a:xfrm>
          <a:prstGeom prst="roundRect">
            <a:avLst>
              <a:gd name="adj" fmla="val 153600"/>
            </a:avLst>
          </a:prstGeom>
          <a:solidFill>
            <a:srgbClr val="007EBD"/>
          </a:solidFill>
        </p:spPr>
      </p:sp>
      <p:sp>
        <p:nvSpPr>
          <p:cNvPr id="20" name="Text 17"/>
          <p:cNvSpPr/>
          <p:nvPr/>
        </p:nvSpPr>
        <p:spPr>
          <a:xfrm>
            <a:off x="12524184" y="2742128"/>
            <a:ext cx="238125" cy="297656"/>
          </a:xfrm>
          <a:prstGeom prst="rect">
            <a:avLst/>
          </a:prstGeom>
          <a:noFill/>
        </p:spPr>
        <p:txBody>
          <a:bodyPr wrap="none" lIns="0" tIns="0" rIns="0" bIns="0" rtlCol="0" anchor="t"/>
          <a:lstStyle/>
          <a:p>
            <a:pPr marL="0" indent="0" algn="l">
              <a:lnSpc>
                <a:spcPts val="3000"/>
              </a:lnSpc>
              <a:buNone/>
            </a:pPr>
            <a:r>
              <a:rPr lang="en-US" sz="1850" b="1" dirty="0">
                <a:solidFill>
                  <a:srgbClr val="FFFFFF"/>
                </a:solidFill>
                <a:latin typeface="Petrona Bold" pitchFamily="34" charset="0"/>
                <a:ea typeface="Petrona Bold" pitchFamily="34" charset="-122"/>
                <a:cs typeface="Petrona Bold" pitchFamily="34" charset="-120"/>
              </a:rPr>
              <a:t>3</a:t>
            </a:r>
            <a:endParaRPr lang="en-US" sz="1850" dirty="0"/>
          </a:p>
        </p:txBody>
      </p:sp>
      <p:sp>
        <p:nvSpPr>
          <p:cNvPr id="21" name="Text 18"/>
          <p:cNvSpPr/>
          <p:nvPr/>
        </p:nvSpPr>
        <p:spPr>
          <a:xfrm>
            <a:off x="11671221" y="3387090"/>
            <a:ext cx="1944172" cy="651272"/>
          </a:xfrm>
          <a:prstGeom prst="rect">
            <a:avLst/>
          </a:prstGeom>
          <a:noFill/>
        </p:spPr>
        <p:txBody>
          <a:bodyPr wrap="squar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Fragmentation &amp; short support</a:t>
            </a:r>
            <a:endParaRPr lang="en-US" sz="2050" dirty="0"/>
          </a:p>
        </p:txBody>
      </p:sp>
      <p:sp>
        <p:nvSpPr>
          <p:cNvPr id="22" name="Text 19"/>
          <p:cNvSpPr/>
          <p:nvPr/>
        </p:nvSpPr>
        <p:spPr>
          <a:xfrm>
            <a:off x="11671221" y="4157424"/>
            <a:ext cx="1944172" cy="2857857"/>
          </a:xfrm>
          <a:prstGeom prst="rect">
            <a:avLst/>
          </a:prstGeom>
          <a:noFill/>
        </p:spPr>
        <p:txBody>
          <a:bodyPr wrap="square" lIns="0" tIns="0" rIns="0" bIns="0" rtlCol="0" anchor="t"/>
          <a:lstStyle/>
          <a:p>
            <a:pPr marL="0" indent="0" algn="l">
              <a:lnSpc>
                <a:spcPts val="2500"/>
              </a:lnSpc>
              <a:buNone/>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Criticized for short device support lifecycles; efforts like Treble, Mainline, and OEM commitments (e.g., Samsung extended support) aim to improve this.</a:t>
            </a:r>
            <a:endParaRPr lang="en-US" sz="1550" dirty="0"/>
          </a:p>
        </p:txBody>
      </p:sp>
      <p:sp>
        <p:nvSpPr>
          <p:cNvPr id="23" name="Rectangles 22"/>
          <p:cNvSpPr/>
          <p:nvPr/>
        </p:nvSpPr>
        <p:spPr>
          <a:xfrm>
            <a:off x="12640310" y="7768590"/>
            <a:ext cx="1879600" cy="32956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2415778"/>
            <a:ext cx="9092803" cy="651272"/>
          </a:xfrm>
          <a:prstGeom prst="rect">
            <a:avLst/>
          </a:prstGeom>
          <a:noFill/>
        </p:spPr>
        <p:txBody>
          <a:bodyPr wrap="non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Legacy, Reception &amp; Future Directions</a:t>
            </a:r>
            <a:endParaRPr lang="en-US" sz="4100" dirty="0"/>
          </a:p>
        </p:txBody>
      </p:sp>
      <p:pic>
        <p:nvPicPr>
          <p:cNvPr id="3" name="Image 0" descr="preencoded.png"/>
          <p:cNvPicPr>
            <a:picLocks noChangeAspect="1"/>
          </p:cNvPicPr>
          <p:nvPr/>
        </p:nvPicPr>
        <p:blipFill>
          <a:blip r:embed="rId1"/>
          <a:stretch>
            <a:fillRect/>
          </a:stretch>
        </p:blipFill>
        <p:spPr>
          <a:xfrm>
            <a:off x="793790" y="3463885"/>
            <a:ext cx="1855113" cy="2318861"/>
          </a:xfrm>
          <a:prstGeom prst="rect">
            <a:avLst/>
          </a:prstGeom>
        </p:spPr>
      </p:pic>
      <p:sp>
        <p:nvSpPr>
          <p:cNvPr id="4" name="Text 1"/>
          <p:cNvSpPr/>
          <p:nvPr/>
        </p:nvSpPr>
        <p:spPr>
          <a:xfrm>
            <a:off x="2896910" y="3463885"/>
            <a:ext cx="2604968" cy="325636"/>
          </a:xfrm>
          <a:prstGeom prst="rect">
            <a:avLst/>
          </a:prstGeom>
          <a:noFill/>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Mascot &amp; branding</a:t>
            </a:r>
            <a:endParaRPr lang="en-US" sz="2050" dirty="0"/>
          </a:p>
        </p:txBody>
      </p:sp>
      <p:sp>
        <p:nvSpPr>
          <p:cNvPr id="5" name="Text 2"/>
          <p:cNvSpPr/>
          <p:nvPr/>
        </p:nvSpPr>
        <p:spPr>
          <a:xfrm>
            <a:off x="2896910" y="3908584"/>
            <a:ext cx="4294227" cy="1587698"/>
          </a:xfrm>
          <a:prstGeom prst="rect">
            <a:avLst/>
          </a:prstGeom>
          <a:noFill/>
        </p:spPr>
        <p:txBody>
          <a:bodyPr wrap="square" lIns="0" tIns="0" rIns="0" bIns="0" rtlCol="0" anchor="t"/>
          <a:lstStyle/>
          <a:p>
            <a:pPr marL="0" indent="0" algn="l">
              <a:lnSpc>
                <a:spcPts val="2500"/>
              </a:lnSpc>
              <a:buNone/>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The green robot (often called "Bugdroid", officially "The Bot" in 2024) is Android’s widely recognized mascot. The wordmark/logo evolved and is used with trademark restrictions by Google.</a:t>
            </a:r>
            <a:endParaRPr lang="en-US" sz="1550" dirty="0"/>
          </a:p>
        </p:txBody>
      </p:sp>
      <p:pic>
        <p:nvPicPr>
          <p:cNvPr id="6" name="Image 1" descr="preencoded.png"/>
          <p:cNvPicPr>
            <a:picLocks noChangeAspect="1"/>
          </p:cNvPicPr>
          <p:nvPr/>
        </p:nvPicPr>
        <p:blipFill>
          <a:blip r:embed="rId2"/>
          <a:stretch>
            <a:fillRect/>
          </a:stretch>
        </p:blipFill>
        <p:spPr>
          <a:xfrm>
            <a:off x="7439144" y="3463885"/>
            <a:ext cx="1855232" cy="2318980"/>
          </a:xfrm>
          <a:prstGeom prst="rect">
            <a:avLst/>
          </a:prstGeom>
        </p:spPr>
      </p:pic>
      <p:sp>
        <p:nvSpPr>
          <p:cNvPr id="7" name="Text 3"/>
          <p:cNvSpPr/>
          <p:nvPr/>
        </p:nvSpPr>
        <p:spPr>
          <a:xfrm>
            <a:off x="9542383" y="3463885"/>
            <a:ext cx="2604968" cy="325636"/>
          </a:xfrm>
          <a:prstGeom prst="rect">
            <a:avLst/>
          </a:prstGeom>
          <a:noFill/>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Ongoing evolution</a:t>
            </a:r>
            <a:endParaRPr lang="en-US" sz="2050" dirty="0"/>
          </a:p>
        </p:txBody>
      </p:sp>
      <p:sp>
        <p:nvSpPr>
          <p:cNvPr id="8" name="Text 4"/>
          <p:cNvSpPr/>
          <p:nvPr/>
        </p:nvSpPr>
        <p:spPr>
          <a:xfrm>
            <a:off x="9542383" y="3908584"/>
            <a:ext cx="4294227" cy="1905238"/>
          </a:xfrm>
          <a:prstGeom prst="rect">
            <a:avLst/>
          </a:prstGeom>
          <a:noFill/>
        </p:spPr>
        <p:txBody>
          <a:bodyPr wrap="square" lIns="0" tIns="0" rIns="0" bIns="0" rtlCol="0" anchor="t"/>
          <a:lstStyle/>
          <a:p>
            <a:pPr marL="0" indent="0" algn="l">
              <a:lnSpc>
                <a:spcPts val="2500"/>
              </a:lnSpc>
              <a:buNone/>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Google continues to develop Android (annual major releases; Android 16 released June 10, 2025) and expand into XR, desktop-like experiences, and tighter modular update delivery while balancing openness, security and regulatory constraints.</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2277785"/>
            <a:ext cx="6556653" cy="651272"/>
          </a:xfrm>
          <a:prstGeom prst="rect">
            <a:avLst/>
          </a:prstGeom>
          <a:noFill/>
        </p:spPr>
        <p:txBody>
          <a:bodyPr wrap="non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 Summary &amp; Key Takeaways</a:t>
            </a:r>
            <a:endParaRPr lang="en-US" sz="4100" dirty="0"/>
          </a:p>
        </p:txBody>
      </p:sp>
      <p:pic>
        <p:nvPicPr>
          <p:cNvPr id="3" name="Image 0" descr="preencoded.png"/>
          <p:cNvPicPr>
            <a:picLocks noChangeAspect="1"/>
          </p:cNvPicPr>
          <p:nvPr/>
        </p:nvPicPr>
        <p:blipFill>
          <a:blip r:embed="rId1"/>
          <a:stretch>
            <a:fillRect/>
          </a:stretch>
        </p:blipFill>
        <p:spPr>
          <a:xfrm>
            <a:off x="793790" y="3325892"/>
            <a:ext cx="891540" cy="1114425"/>
          </a:xfrm>
          <a:prstGeom prst="rect">
            <a:avLst/>
          </a:prstGeom>
        </p:spPr>
      </p:pic>
      <p:sp>
        <p:nvSpPr>
          <p:cNvPr id="4" name="Text 1"/>
          <p:cNvSpPr/>
          <p:nvPr/>
        </p:nvSpPr>
        <p:spPr>
          <a:xfrm>
            <a:off x="1933337" y="3325892"/>
            <a:ext cx="1935123" cy="651272"/>
          </a:xfrm>
          <a:prstGeom prst="rect">
            <a:avLst/>
          </a:prstGeom>
          <a:noFill/>
        </p:spPr>
        <p:txBody>
          <a:bodyPr wrap="squar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What is Android?</a:t>
            </a:r>
            <a:endParaRPr lang="en-US" sz="2050" dirty="0"/>
          </a:p>
        </p:txBody>
      </p:sp>
      <p:pic>
        <p:nvPicPr>
          <p:cNvPr id="5" name="Image 1" descr="preencoded.png"/>
          <p:cNvPicPr>
            <a:picLocks noChangeAspect="1"/>
          </p:cNvPicPr>
          <p:nvPr/>
        </p:nvPicPr>
        <p:blipFill>
          <a:blip r:embed="rId2"/>
          <a:stretch>
            <a:fillRect/>
          </a:stretch>
        </p:blipFill>
        <p:spPr>
          <a:xfrm>
            <a:off x="4116467" y="3325892"/>
            <a:ext cx="891540" cy="1114425"/>
          </a:xfrm>
          <a:prstGeom prst="rect">
            <a:avLst/>
          </a:prstGeom>
        </p:spPr>
      </p:pic>
      <p:sp>
        <p:nvSpPr>
          <p:cNvPr id="6" name="Text 2"/>
          <p:cNvSpPr/>
          <p:nvPr/>
        </p:nvSpPr>
        <p:spPr>
          <a:xfrm>
            <a:off x="5256014" y="3325892"/>
            <a:ext cx="1935123" cy="325636"/>
          </a:xfrm>
          <a:prstGeom prst="rect">
            <a:avLst/>
          </a:prstGeom>
          <a:noFill/>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Origins</a:t>
            </a:r>
            <a:endParaRPr lang="en-US" sz="2050" dirty="0"/>
          </a:p>
        </p:txBody>
      </p:sp>
      <p:pic>
        <p:nvPicPr>
          <p:cNvPr id="7" name="Image 2" descr="preencoded.png"/>
          <p:cNvPicPr>
            <a:picLocks noChangeAspect="1"/>
          </p:cNvPicPr>
          <p:nvPr/>
        </p:nvPicPr>
        <p:blipFill>
          <a:blip r:embed="rId3"/>
          <a:stretch>
            <a:fillRect/>
          </a:stretch>
        </p:blipFill>
        <p:spPr>
          <a:xfrm>
            <a:off x="7439144" y="3325892"/>
            <a:ext cx="891540" cy="1114425"/>
          </a:xfrm>
          <a:prstGeom prst="rect">
            <a:avLst/>
          </a:prstGeom>
        </p:spPr>
      </p:pic>
      <p:sp>
        <p:nvSpPr>
          <p:cNvPr id="8" name="Text 3"/>
          <p:cNvSpPr/>
          <p:nvPr/>
        </p:nvSpPr>
        <p:spPr>
          <a:xfrm>
            <a:off x="8578691" y="3325892"/>
            <a:ext cx="1935123" cy="325636"/>
          </a:xfrm>
          <a:prstGeom prst="rect">
            <a:avLst/>
          </a:prstGeom>
          <a:noFill/>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Architecture</a:t>
            </a:r>
            <a:endParaRPr lang="en-US" sz="2050" dirty="0"/>
          </a:p>
        </p:txBody>
      </p:sp>
      <p:pic>
        <p:nvPicPr>
          <p:cNvPr id="9" name="Image 3" descr="preencoded.png"/>
          <p:cNvPicPr>
            <a:picLocks noChangeAspect="1"/>
          </p:cNvPicPr>
          <p:nvPr/>
        </p:nvPicPr>
        <p:blipFill>
          <a:blip r:embed="rId4"/>
          <a:stretch>
            <a:fillRect/>
          </a:stretch>
        </p:blipFill>
        <p:spPr>
          <a:xfrm>
            <a:off x="10761821" y="3325892"/>
            <a:ext cx="891659" cy="1114544"/>
          </a:xfrm>
          <a:prstGeom prst="rect">
            <a:avLst/>
          </a:prstGeom>
        </p:spPr>
      </p:pic>
      <p:sp>
        <p:nvSpPr>
          <p:cNvPr id="10" name="Text 4"/>
          <p:cNvSpPr/>
          <p:nvPr/>
        </p:nvSpPr>
        <p:spPr>
          <a:xfrm>
            <a:off x="11901488" y="3325892"/>
            <a:ext cx="1935123" cy="325636"/>
          </a:xfrm>
          <a:prstGeom prst="rect">
            <a:avLst/>
          </a:prstGeom>
          <a:noFill/>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Ecosystem</a:t>
            </a:r>
            <a:endParaRPr lang="en-US" sz="2050" dirty="0"/>
          </a:p>
        </p:txBody>
      </p:sp>
      <p:pic>
        <p:nvPicPr>
          <p:cNvPr id="11" name="Image 4" descr="preencoded.png"/>
          <p:cNvPicPr>
            <a:picLocks noChangeAspect="1"/>
          </p:cNvPicPr>
          <p:nvPr/>
        </p:nvPicPr>
        <p:blipFill>
          <a:blip r:embed="rId5"/>
          <a:stretch>
            <a:fillRect/>
          </a:stretch>
        </p:blipFill>
        <p:spPr>
          <a:xfrm>
            <a:off x="793790" y="4837271"/>
            <a:ext cx="891540" cy="1114425"/>
          </a:xfrm>
          <a:prstGeom prst="rect">
            <a:avLst/>
          </a:prstGeom>
        </p:spPr>
      </p:pic>
      <p:sp>
        <p:nvSpPr>
          <p:cNvPr id="12" name="Text 5"/>
          <p:cNvSpPr/>
          <p:nvPr/>
        </p:nvSpPr>
        <p:spPr>
          <a:xfrm>
            <a:off x="1933337" y="4837271"/>
            <a:ext cx="1935123" cy="325636"/>
          </a:xfrm>
          <a:prstGeom prst="rect">
            <a:avLst/>
          </a:prstGeom>
          <a:noFill/>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Key Features</a:t>
            </a:r>
            <a:endParaRPr lang="en-US" sz="2050" dirty="0"/>
          </a:p>
        </p:txBody>
      </p:sp>
      <p:pic>
        <p:nvPicPr>
          <p:cNvPr id="13" name="Image 5" descr="preencoded.png"/>
          <p:cNvPicPr>
            <a:picLocks noChangeAspect="1"/>
          </p:cNvPicPr>
          <p:nvPr/>
        </p:nvPicPr>
        <p:blipFill>
          <a:blip r:embed="rId6"/>
          <a:stretch>
            <a:fillRect/>
          </a:stretch>
        </p:blipFill>
        <p:spPr>
          <a:xfrm>
            <a:off x="4116467" y="4837271"/>
            <a:ext cx="891540" cy="1114425"/>
          </a:xfrm>
          <a:prstGeom prst="rect">
            <a:avLst/>
          </a:prstGeom>
        </p:spPr>
      </p:pic>
      <p:sp>
        <p:nvSpPr>
          <p:cNvPr id="14" name="Text 6"/>
          <p:cNvSpPr/>
          <p:nvPr/>
        </p:nvSpPr>
        <p:spPr>
          <a:xfrm>
            <a:off x="5256014" y="4837271"/>
            <a:ext cx="1935123" cy="325636"/>
          </a:xfrm>
          <a:prstGeom prst="rect">
            <a:avLst/>
          </a:prstGeom>
          <a:noFill/>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Development</a:t>
            </a:r>
            <a:endParaRPr lang="en-US" sz="2050" dirty="0"/>
          </a:p>
        </p:txBody>
      </p:sp>
      <p:pic>
        <p:nvPicPr>
          <p:cNvPr id="15" name="Image 6" descr="preencoded.png"/>
          <p:cNvPicPr>
            <a:picLocks noChangeAspect="1"/>
          </p:cNvPicPr>
          <p:nvPr/>
        </p:nvPicPr>
        <p:blipFill>
          <a:blip r:embed="rId7"/>
          <a:stretch>
            <a:fillRect/>
          </a:stretch>
        </p:blipFill>
        <p:spPr>
          <a:xfrm>
            <a:off x="7439144" y="4837271"/>
            <a:ext cx="891540" cy="1114425"/>
          </a:xfrm>
          <a:prstGeom prst="rect">
            <a:avLst/>
          </a:prstGeom>
        </p:spPr>
      </p:pic>
      <p:sp>
        <p:nvSpPr>
          <p:cNvPr id="16" name="Text 7"/>
          <p:cNvSpPr/>
          <p:nvPr/>
        </p:nvSpPr>
        <p:spPr>
          <a:xfrm>
            <a:off x="8578691" y="4837271"/>
            <a:ext cx="1935123" cy="325636"/>
          </a:xfrm>
          <a:prstGeom prst="rect">
            <a:avLst/>
          </a:prstGeom>
          <a:noFill/>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Challenges</a:t>
            </a:r>
            <a:endParaRPr lang="en-US" sz="2050" dirty="0"/>
          </a:p>
        </p:txBody>
      </p:sp>
      <p:pic>
        <p:nvPicPr>
          <p:cNvPr id="17" name="Image 7" descr="preencoded.png"/>
          <p:cNvPicPr>
            <a:picLocks noChangeAspect="1"/>
          </p:cNvPicPr>
          <p:nvPr/>
        </p:nvPicPr>
        <p:blipFill>
          <a:blip r:embed="rId8"/>
          <a:stretch>
            <a:fillRect/>
          </a:stretch>
        </p:blipFill>
        <p:spPr>
          <a:xfrm>
            <a:off x="10761821" y="4837271"/>
            <a:ext cx="891659" cy="1114544"/>
          </a:xfrm>
          <a:prstGeom prst="rect">
            <a:avLst/>
          </a:prstGeom>
        </p:spPr>
      </p:pic>
      <p:sp>
        <p:nvSpPr>
          <p:cNvPr id="18" name="Text 8"/>
          <p:cNvSpPr/>
          <p:nvPr/>
        </p:nvSpPr>
        <p:spPr>
          <a:xfrm>
            <a:off x="11901488" y="4837271"/>
            <a:ext cx="1935123" cy="325636"/>
          </a:xfrm>
          <a:prstGeom prst="rect">
            <a:avLst/>
          </a:prstGeom>
          <a:noFill/>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Future</a:t>
            </a:r>
            <a:endParaRPr lang="en-US" sz="2050" dirty="0"/>
          </a:p>
        </p:txBody>
      </p:sp>
      <p:sp>
        <p:nvSpPr>
          <p:cNvPr id="19" name="Rectangles 18"/>
          <p:cNvSpPr/>
          <p:nvPr/>
        </p:nvSpPr>
        <p:spPr>
          <a:xfrm>
            <a:off x="12640310" y="7768590"/>
            <a:ext cx="1879600" cy="32956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2762488"/>
            <a:ext cx="7189708" cy="898684"/>
          </a:xfrm>
          <a:prstGeom prst="rect">
            <a:avLst/>
          </a:prstGeom>
          <a:noFill/>
        </p:spPr>
        <p:txBody>
          <a:bodyPr wrap="none" lIns="0" tIns="0" rIns="0" bIns="0" rtlCol="0" anchor="t"/>
          <a:lstStyle/>
          <a:p>
            <a:pPr marL="0" indent="0" algn="l">
              <a:lnSpc>
                <a:spcPts val="7050"/>
              </a:lnSpc>
              <a:buNone/>
            </a:pPr>
            <a:r>
              <a:rPr lang="en-US" sz="5650" b="1" dirty="0">
                <a:solidFill>
                  <a:srgbClr val="000000"/>
                </a:solidFill>
                <a:latin typeface="Petrona Bold" pitchFamily="34" charset="0"/>
                <a:ea typeface="Petrona Bold" pitchFamily="34" charset="-122"/>
                <a:cs typeface="Petrona Bold" pitchFamily="34" charset="-120"/>
              </a:rPr>
              <a:t>Question ?</a:t>
            </a:r>
            <a:endParaRPr lang="en-US" sz="5650" dirty="0"/>
          </a:p>
        </p:txBody>
      </p:sp>
      <p:sp>
        <p:nvSpPr>
          <p:cNvPr id="3" name="Text 1"/>
          <p:cNvSpPr/>
          <p:nvPr/>
        </p:nvSpPr>
        <p:spPr>
          <a:xfrm>
            <a:off x="793790" y="4058007"/>
            <a:ext cx="13042821" cy="1408986"/>
          </a:xfrm>
          <a:prstGeom prst="rect">
            <a:avLst/>
          </a:prstGeom>
          <a:noFill/>
        </p:spPr>
        <p:txBody>
          <a:bodyPr wrap="square" lIns="0" tIns="0" rIns="0" bIns="0" rtlCol="0" anchor="t"/>
          <a:lstStyle/>
          <a:p>
            <a:pPr marL="342900" indent="-342900" algn="l">
              <a:lnSpc>
                <a:spcPts val="2500"/>
              </a:lnSpc>
              <a:buSzPct val="100000"/>
              <a:buFont typeface="+mj-lt"/>
              <a:buAutoNum type="arabicPeriod"/>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How does Android's layered architecture help it run on such a wide range of devices?</a:t>
            </a:r>
            <a:endParaRPr lang="en-US" sz="1550" dirty="0"/>
          </a:p>
          <a:p>
            <a:pPr marL="342900" indent="-342900" algn="l">
              <a:lnSpc>
                <a:spcPts val="2500"/>
              </a:lnSpc>
              <a:buSzPct val="100000"/>
              <a:buFont typeface="+mj-lt"/>
              <a:buAutoNum type="arabicPeriod" startAt="2"/>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Why has Android become so dominant in the global smartphone market, and what trade-offs come with that scale?</a:t>
            </a:r>
            <a:endParaRPr lang="en-US" sz="1550" dirty="0"/>
          </a:p>
          <a:p>
            <a:pPr marL="342900" indent="-342900" algn="l">
              <a:lnSpc>
                <a:spcPts val="2500"/>
              </a:lnSpc>
              <a:buSzPct val="100000"/>
              <a:buFont typeface="+mj-lt"/>
              <a:buAutoNum type="arabicPeriod" startAt="3"/>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What do you think will matter most for Android’s future: security and privacy improvements, faster updates, or new AI-powered features?</a:t>
            </a:r>
            <a:endParaRPr lang="en-US" sz="1550" dirty="0"/>
          </a:p>
        </p:txBody>
      </p:sp>
      <p:sp>
        <p:nvSpPr>
          <p:cNvPr id="14" name="Rectangles 13"/>
          <p:cNvSpPr/>
          <p:nvPr/>
        </p:nvSpPr>
        <p:spPr>
          <a:xfrm>
            <a:off x="12640310" y="7768590"/>
            <a:ext cx="1879600" cy="32956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3190994"/>
            <a:ext cx="5209937" cy="651272"/>
          </a:xfrm>
          <a:prstGeom prst="rect">
            <a:avLst/>
          </a:prstGeom>
          <a:noFill/>
        </p:spPr>
        <p:txBody>
          <a:bodyPr wrap="none" lIns="0" tIns="0" rIns="0" bIns="0" rtlCol="0" anchor="t"/>
          <a:lstStyle/>
          <a:p>
            <a:pPr marL="0" indent="0" algn="l">
              <a:lnSpc>
                <a:spcPts val="5100"/>
              </a:lnSpc>
              <a:buNone/>
            </a:pPr>
            <a:endParaRPr lang="en-US" sz="4100" dirty="0"/>
          </a:p>
        </p:txBody>
      </p:sp>
      <p:sp>
        <p:nvSpPr>
          <p:cNvPr id="3" name="Text 1"/>
          <p:cNvSpPr/>
          <p:nvPr/>
        </p:nvSpPr>
        <p:spPr>
          <a:xfrm>
            <a:off x="793790" y="4139922"/>
            <a:ext cx="12726710" cy="898684"/>
          </a:xfrm>
          <a:prstGeom prst="rect">
            <a:avLst/>
          </a:prstGeom>
          <a:noFill/>
        </p:spPr>
        <p:txBody>
          <a:bodyPr wrap="none" lIns="0" tIns="0" rIns="0" bIns="0" rtlCol="0" anchor="t"/>
          <a:lstStyle/>
          <a:p>
            <a:pPr marL="0" indent="0" algn="l">
              <a:lnSpc>
                <a:spcPts val="7050"/>
              </a:lnSpc>
              <a:buNone/>
            </a:pPr>
            <a:r>
              <a:rPr lang="en-US" sz="5650" b="1" dirty="0">
                <a:solidFill>
                  <a:srgbClr val="000000"/>
                </a:solidFill>
                <a:latin typeface="Petrona Bold" pitchFamily="34" charset="0"/>
                <a:ea typeface="Petrona Bold" pitchFamily="34" charset="-122"/>
                <a:cs typeface="Petrona Bold" pitchFamily="34" charset="-120"/>
              </a:rPr>
              <a:t>Thank you for your time and attention.</a:t>
            </a:r>
            <a:endParaRPr lang="en-US" sz="5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5108</Words>
  <Application>WPS Presentation</Application>
  <PresentationFormat>On-screen Show (16:9)</PresentationFormat>
  <Paragraphs>150</Paragraphs>
  <Slides>14</Slides>
  <Notes>14</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14</vt:i4>
      </vt:variant>
    </vt:vector>
  </HeadingPairs>
  <TitlesOfParts>
    <vt:vector size="32" baseType="lpstr">
      <vt:lpstr>Arial</vt:lpstr>
      <vt:lpstr>SimSun</vt:lpstr>
      <vt:lpstr>Wingdings</vt:lpstr>
      <vt:lpstr>Petrona Bold</vt:lpstr>
      <vt:lpstr>苹方-简</vt:lpstr>
      <vt:lpstr>Petrona Bold</vt:lpstr>
      <vt:lpstr>Petrona Bold</vt:lpstr>
      <vt:lpstr>Inter</vt:lpstr>
      <vt:lpstr>Inter</vt:lpstr>
      <vt:lpstr>Inter</vt:lpstr>
      <vt:lpstr>Calibri</vt:lpstr>
      <vt:lpstr>Helvetica Neue</vt:lpstr>
      <vt:lpstr>Microsoft YaHei</vt:lpstr>
      <vt:lpstr>汉仪旗黑</vt:lpstr>
      <vt:lpstr>Arial Unicode MS</vt:lpstr>
      <vt:lpstr>Calibri Light</vt:lpstr>
      <vt:lpstr>宋体-简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WPS_1756931950</cp:lastModifiedBy>
  <cp:revision>4</cp:revision>
  <dcterms:created xsi:type="dcterms:W3CDTF">2026-04-24T17:09:36Z</dcterms:created>
  <dcterms:modified xsi:type="dcterms:W3CDTF">2026-04-24T17:09:36Z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44FB1198B0C9E25FD0A3EB69BB729DBF_43</vt:lpwstr>
  </property>
  <property fmtid="{D5CDD505-2E9C-101B-9397-08002B2CF9AE}" pid="3" name="KSOProductBuildVer">
    <vt:lpwstr>1033-6.10.2.8397</vt:lpwstr>
  </property>
</Properties>
</file>